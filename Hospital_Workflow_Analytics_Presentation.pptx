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motivation: hospitals plan scanners and staff from timestamp logs, so if the logs are misleading the plans are too. Our workbook has 130,431 exams from four facilities. The catch we found early is that the published Wait column means something different at F4 than at the other three sites. The project has four objectives: understand the data, make it trustworthy, work with medical images, and keep evidence for every step. The workbook contains no images, which is why T4 to T6 use a generated CT-style phantom; I will say that clearly again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thing rebuilds with one command, python -m pipeline.build. The pipeline reads the workbook once and caches it, writes cleaned files and every number the interface shows into small JavaScript data files, and the front end is plain HTML, CSS and JavaScript with no framework, so it opens straight from disk. For the imaging topics there is no real image data in the workbook, so I generated a chest-CT style phantom in Hounsfield units. The advantage is that we know exactly where every nodule is, so every method can be scored against the truth instead of eyeballed.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T1 is about understanding, not fixing. Each row is one exam. The interesting part is that the four sites are not interchangeable: median wait runs from about 6 minutes at F4 to 55 at F3, but part of that is a definition difference which we untangle in T2. There are 89 features in total and 61 exist at every site. This is an operational extract only, so no diagnoses and no patient identifiers.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finding that changes how you read T1. The published Wait column at F4 is begin minus arrival, but at the other three sites it is begin minus scheduled. Comparing them directly would have made F4 look far faster than it is relative to the others. We recompute wait from the timestamps so every site uses the same definition. We were careful not to reconstruct calendar dates because the timestamps are shifted, and we flag outliers rather than delete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results. First, no rows were removed: no exact duplicates, and rows that share an arrival second always have different waits so they are separate exams. Second, columns were pruned in four stages and the wait-time model error barely changed on a chronological hold-out, so the removed columns carried little extra. Third and most interesting: the real missing data is hidden. Statistics of an empty set, like the average age of people waiting, are stored as zero. We found about 197 thousand such cells by searching for a count that is zero exactly when the statistic is zero. These rules are inferred from the data and should be confirmed with the system owner.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kinds of image processing. Enhancement: CT windowing uses the known meaning of Hounsfield units, while histogram equalisation and CLAHE raise entropy but also amplify the noise. Restoration: non-local means was clearly the best denoiser here, and I should say the parameters were tuned on the same image they are scored on, so read the ranking rather than the absolute numbers. Segmentation: threshold plus morphology gave a lung Dice of 0.99, but finding nodules by brightness also picks up vessels. Compression: noise is essentially incompressible, so the same slice compresses about seven times better without noise.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halves. First, registration: we made a second scan with a known 12 degree rotation, 1.08 scale and shift. SIFT found matches, about 30 percent of them wrong, and RANSAC fitted the transform while ignoring them, recovering it to about a millimetre at the nodules. Ordinary least squares on the same matches was off by nearly 3 centimetres. Second, a small CNN with about six thousand parameters classifies nodule patches. Early on one training seed got stuck and adding batch normalisation fixed it. Caveat: training and test patients come from the same generator, so the 0.999 is in-distribution and would be lower on real scans. The false alarm on the couch is an object the network never saw as a negative.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T6 is the part you can actually play with. The viewer runs on a small 48 by 112 by 112 volume and everything is drawn on a canvas in the browser. Change the window and the lungs, soft tissue or bone appear; switch to a maximum intensity projection and the nodules stand out. We also measured colormaps rather than just asserting that rainbow is bad: the lightness of jet goes up and down three times, which creates bands that look like boundaries. Diagnostic viewing needs calibrated displays, so this is an illustration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 would highlight is the habit of checking. Two examples: the wait definition mismatch was found by testing which formula reproduced each site's column, and the hidden missing values were found by searching for counts that are zero exactly when a statistic is zero. Baselines matter too: the CNN is only interesting because it beats logistic regression, and we report that one early training run failed. And everything is reproducible with one command.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the numbers on the left are the headline results, but read them with the limits on the right. The imaging results are on a generated phantom, so the ranking of methods is meaningful and the absolute numbers are not clinical. The next step that would matter most is repeating T4 and T5 on real DICOM data and using the cleaned workbook features for an actual wait-time prediction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A35"/>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7FC8C4"/>
                </a:solidFill>
                <a:latin typeface="Calibri" pitchFamily="34" charset="0"/>
                <a:ea typeface="Calibri" pitchFamily="34" charset="-122"/>
                <a:cs typeface="Calibri" pitchFamily="34" charset="-120"/>
              </a:rPr>
              <a:t>PROBLEM DEFINITION &amp; OBJECTIVES</a:t>
            </a:r>
            <a:endParaRPr lang="en-US" sz="1100" dirty="0"/>
          </a:p>
        </p:txBody>
      </p:sp>
      <p:sp>
        <p:nvSpPr>
          <p:cNvPr id="3" name="Text 1"/>
          <p:cNvSpPr txBox="1"/>
          <p:nvPr/>
        </p:nvSpPr>
        <p:spPr>
          <a:xfrm>
            <a:off x="548640" y="685800"/>
            <a:ext cx="6949440" cy="173736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Why do patients wait for a scan, and can we trust the data we use to explain it?</a:t>
            </a:r>
            <a:endParaRPr lang="en-US" sz="3400" dirty="0"/>
          </a:p>
        </p:txBody>
      </p:sp>
      <p:sp>
        <p:nvSpPr>
          <p:cNvPr id="4" name="Text 2"/>
          <p:cNvSpPr txBox="1"/>
          <p:nvPr/>
        </p:nvSpPr>
        <p:spPr>
          <a:xfrm>
            <a:off x="548640" y="2514600"/>
            <a:ext cx="6766560" cy="1371600"/>
          </a:xfrm>
          <a:prstGeom prst="rect">
            <a:avLst/>
          </a:prstGeom>
          <a:noFill/>
          <a:ln/>
        </p:spPr>
        <p:txBody>
          <a:bodyPr wrap="square" lIns="0" tIns="0" rIns="0" bIns="0" rtlCol="0" anchor="t"/>
          <a:lstStyle/>
          <a:p>
            <a:pPr indent="0" marL="0">
              <a:spcAft>
                <a:spcPts val="400"/>
              </a:spcAft>
              <a:buNone/>
            </a:pPr>
            <a:r>
              <a:rPr lang="en-US" sz="1500" dirty="0">
                <a:solidFill>
                  <a:srgbClr val="C9D6DA"/>
                </a:solidFill>
                <a:latin typeface="Calibri" pitchFamily="34" charset="0"/>
                <a:ea typeface="Calibri" pitchFamily="34" charset="-122"/>
                <a:cs typeface="Calibri" pitchFamily="34" charset="-120"/>
              </a:rPr>
              <a:t>Imaging departments log every step of a patient's visit: booked, arrived, scanned. That log is what hospitals use to plan staff and scanners. </a:t>
            </a:r>
            <a:pPr indent="0" marL="0">
              <a:spcAft>
                <a:spcPts val="400"/>
              </a:spcAft>
              <a:buNone/>
            </a:pPr>
            <a:r>
              <a:rPr lang="en-US" sz="1500" dirty="0">
                <a:solidFill>
                  <a:srgbClr val="C9D6DA"/>
                </a:solidFill>
                <a:latin typeface="Calibri" pitchFamily="34" charset="0"/>
                <a:ea typeface="Calibri" pitchFamily="34" charset="-122"/>
                <a:cs typeface="Calibri" pitchFamily="34" charset="-120"/>
              </a:rPr>
              <a:t>But the data is messier than it looks:</a:t>
            </a:r>
            <a:endParaRPr lang="en-US" sz="1500" dirty="0"/>
          </a:p>
          <a:p>
            <a:pPr indent="0" marL="0">
              <a:spcAft>
                <a:spcPts val="400"/>
              </a:spcAft>
              <a:buNone/>
            </a:pPr>
            <a:r>
              <a:rPr lang="en-US" sz="1500" dirty="0">
                <a:solidFill>
                  <a:srgbClr val="C9D6DA"/>
                </a:solidFill>
                <a:latin typeface="Calibri" pitchFamily="34" charset="0"/>
                <a:ea typeface="Calibri" pitchFamily="34" charset="-122"/>
                <a:cs typeface="Calibri" pitchFamily="34" charset="-120"/>
              </a:rPr>
              <a:t>the four sites in our file even define “wait” differently, and thousands of values that look like zeros actually mean “not defined”.</a:t>
            </a:r>
            <a:endParaRPr lang="en-US" sz="1500" dirty="0"/>
          </a:p>
        </p:txBody>
      </p:sp>
      <p:sp>
        <p:nvSpPr>
          <p:cNvPr id="5" name="Text 3"/>
          <p:cNvSpPr txBox="1"/>
          <p:nvPr/>
        </p:nvSpPr>
        <p:spPr>
          <a:xfrm>
            <a:off x="8138160" y="594360"/>
            <a:ext cx="3566160" cy="658368"/>
          </a:xfrm>
          <a:prstGeom prst="rect">
            <a:avLst/>
          </a:prstGeom>
          <a:noFill/>
          <a:ln/>
        </p:spPr>
        <p:txBody>
          <a:bodyPr wrap="square" lIns="0" tIns="0" rIns="0" bIns="0" rtlCol="0" anchor="b"/>
          <a:lstStyle/>
          <a:p>
            <a:pPr indent="0" marL="0">
              <a:buNone/>
            </a:pPr>
            <a:r>
              <a:rPr lang="en-US" sz="4000" b="1" dirty="0">
                <a:solidFill>
                  <a:srgbClr val="FFFFFF"/>
                </a:solidFill>
                <a:latin typeface="Cambria" pitchFamily="34" charset="0"/>
                <a:ea typeface="Cambria" pitchFamily="34" charset="-122"/>
                <a:cs typeface="Cambria" pitchFamily="34" charset="-120"/>
              </a:rPr>
              <a:t>130,431</a:t>
            </a:r>
            <a:endParaRPr lang="en-US" sz="4000" dirty="0"/>
          </a:p>
        </p:txBody>
      </p:sp>
      <p:sp>
        <p:nvSpPr>
          <p:cNvPr id="6" name="Text 4"/>
          <p:cNvSpPr txBox="1"/>
          <p:nvPr/>
        </p:nvSpPr>
        <p:spPr>
          <a:xfrm>
            <a:off x="8138160" y="1271016"/>
            <a:ext cx="3566160" cy="457200"/>
          </a:xfrm>
          <a:prstGeom prst="rect">
            <a:avLst/>
          </a:prstGeom>
          <a:noFill/>
          <a:ln/>
        </p:spPr>
        <p:txBody>
          <a:bodyPr wrap="square" lIns="0" tIns="0" rIns="0" bIns="0" rtlCol="0" anchor="t"/>
          <a:lstStyle/>
          <a:p>
            <a:pPr indent="0" marL="0">
              <a:buNone/>
            </a:pPr>
            <a:r>
              <a:rPr lang="en-US" sz="1200" dirty="0">
                <a:solidFill>
                  <a:srgbClr val="C9D6DA"/>
                </a:solidFill>
                <a:latin typeface="Calibri" pitchFamily="34" charset="0"/>
                <a:ea typeface="Calibri" pitchFamily="34" charset="-122"/>
                <a:cs typeface="Calibri" pitchFamily="34" charset="-120"/>
              </a:rPr>
              <a:t>imaging exams in the workbook</a:t>
            </a:r>
            <a:endParaRPr lang="en-US" sz="1200" dirty="0"/>
          </a:p>
        </p:txBody>
      </p:sp>
      <p:sp>
        <p:nvSpPr>
          <p:cNvPr id="7" name="Text 5"/>
          <p:cNvSpPr txBox="1"/>
          <p:nvPr/>
        </p:nvSpPr>
        <p:spPr>
          <a:xfrm>
            <a:off x="8138160" y="1828800"/>
            <a:ext cx="3566160" cy="658368"/>
          </a:xfrm>
          <a:prstGeom prst="rect">
            <a:avLst/>
          </a:prstGeom>
          <a:noFill/>
          <a:ln/>
        </p:spPr>
        <p:txBody>
          <a:bodyPr wrap="square" lIns="0" tIns="0" rIns="0" bIns="0" rtlCol="0" anchor="b"/>
          <a:lstStyle/>
          <a:p>
            <a:pPr indent="0" marL="0">
              <a:buNone/>
            </a:pPr>
            <a:r>
              <a:rPr lang="en-US" sz="2600" b="1" dirty="0">
                <a:solidFill>
                  <a:srgbClr val="FFFFFF"/>
                </a:solidFill>
                <a:latin typeface="Cambria" pitchFamily="34" charset="0"/>
                <a:ea typeface="Cambria" pitchFamily="34" charset="-122"/>
                <a:cs typeface="Cambria" pitchFamily="34" charset="-120"/>
              </a:rPr>
              <a:t>4 sites · 89 features</a:t>
            </a:r>
            <a:endParaRPr lang="en-US" sz="2600" dirty="0"/>
          </a:p>
        </p:txBody>
      </p:sp>
      <p:sp>
        <p:nvSpPr>
          <p:cNvPr id="8" name="Text 6"/>
          <p:cNvSpPr txBox="1"/>
          <p:nvPr/>
        </p:nvSpPr>
        <p:spPr>
          <a:xfrm>
            <a:off x="8138160" y="2505456"/>
            <a:ext cx="3566160" cy="457200"/>
          </a:xfrm>
          <a:prstGeom prst="rect">
            <a:avLst/>
          </a:prstGeom>
          <a:noFill/>
          <a:ln/>
        </p:spPr>
        <p:txBody>
          <a:bodyPr wrap="square" lIns="0" tIns="0" rIns="0" bIns="0" rtlCol="0" anchor="t"/>
          <a:lstStyle/>
          <a:p>
            <a:pPr indent="0" marL="0">
              <a:buNone/>
            </a:pPr>
            <a:r>
              <a:rPr lang="en-US" sz="1200" dirty="0">
                <a:solidFill>
                  <a:srgbClr val="C9D6DA"/>
                </a:solidFill>
                <a:latin typeface="Calibri" pitchFamily="34" charset="0"/>
                <a:ea typeface="Calibri" pitchFamily="34" charset="-122"/>
                <a:cs typeface="Calibri" pitchFamily="34" charset="-120"/>
              </a:rPr>
              <a:t>queue state, schedule, timing</a:t>
            </a:r>
            <a:endParaRPr lang="en-US" sz="1200" dirty="0"/>
          </a:p>
        </p:txBody>
      </p:sp>
      <p:sp>
        <p:nvSpPr>
          <p:cNvPr id="9" name="Text 7"/>
          <p:cNvSpPr txBox="1"/>
          <p:nvPr/>
        </p:nvSpPr>
        <p:spPr>
          <a:xfrm>
            <a:off x="8138160" y="2926080"/>
            <a:ext cx="3566160" cy="658368"/>
          </a:xfrm>
          <a:prstGeom prst="rect">
            <a:avLst/>
          </a:prstGeom>
          <a:noFill/>
          <a:ln/>
        </p:spPr>
        <p:txBody>
          <a:bodyPr wrap="square" lIns="0" tIns="0" rIns="0" bIns="0" rtlCol="0" anchor="b"/>
          <a:lstStyle/>
          <a:p>
            <a:pPr indent="0" marL="0">
              <a:buNone/>
            </a:pPr>
            <a:r>
              <a:rPr lang="en-US" sz="2600" b="1" dirty="0">
                <a:solidFill>
                  <a:srgbClr val="FFFFFF"/>
                </a:solidFill>
                <a:latin typeface="Cambria" pitchFamily="34" charset="0"/>
                <a:ea typeface="Cambria" pitchFamily="34" charset="-122"/>
                <a:cs typeface="Cambria" pitchFamily="34" charset="-120"/>
              </a:rPr>
              <a:t>~3 years</a:t>
            </a:r>
            <a:endParaRPr lang="en-US" sz="2600" dirty="0"/>
          </a:p>
        </p:txBody>
      </p:sp>
      <p:sp>
        <p:nvSpPr>
          <p:cNvPr id="10" name="Text 8"/>
          <p:cNvSpPr txBox="1"/>
          <p:nvPr/>
        </p:nvSpPr>
        <p:spPr>
          <a:xfrm>
            <a:off x="8138160" y="3602736"/>
            <a:ext cx="3566160" cy="457200"/>
          </a:xfrm>
          <a:prstGeom prst="rect">
            <a:avLst/>
          </a:prstGeom>
          <a:noFill/>
          <a:ln/>
        </p:spPr>
        <p:txBody>
          <a:bodyPr wrap="square" lIns="0" tIns="0" rIns="0" bIns="0" rtlCol="0" anchor="t"/>
          <a:lstStyle/>
          <a:p>
            <a:pPr indent="0" marL="0">
              <a:buNone/>
            </a:pPr>
            <a:r>
              <a:rPr lang="en-US" sz="1200" dirty="0">
                <a:solidFill>
                  <a:srgbClr val="C9D6DA"/>
                </a:solidFill>
                <a:latin typeface="Calibri" pitchFamily="34" charset="0"/>
                <a:ea typeface="Calibri" pitchFamily="34" charset="-122"/>
                <a:cs typeface="Calibri" pitchFamily="34" charset="-120"/>
              </a:rPr>
              <a:t>of arrival, slot and start timestamps (dates as published)</a:t>
            </a:r>
            <a:endParaRPr lang="en-US" sz="1200" dirty="0"/>
          </a:p>
        </p:txBody>
      </p:sp>
      <p:sp>
        <p:nvSpPr>
          <p:cNvPr id="11" name="Shape 9"/>
          <p:cNvSpPr/>
          <p:nvPr/>
        </p:nvSpPr>
        <p:spPr>
          <a:xfrm>
            <a:off x="548640" y="4343400"/>
            <a:ext cx="2606040" cy="1874520"/>
          </a:xfrm>
          <a:prstGeom prst="roundRect">
            <a:avLst>
              <a:gd name="adj" fmla="val 3902"/>
            </a:avLst>
          </a:prstGeom>
          <a:solidFill>
            <a:srgbClr val="1B3B47"/>
          </a:solidFill>
          <a:ln w="9525">
            <a:solidFill>
              <a:srgbClr val="2C5261"/>
            </a:solidFill>
            <a:prstDash val="solid"/>
          </a:ln>
        </p:spPr>
      </p:sp>
      <p:sp>
        <p:nvSpPr>
          <p:cNvPr id="12" name="Shape 10"/>
          <p:cNvSpPr/>
          <p:nvPr/>
        </p:nvSpPr>
        <p:spPr>
          <a:xfrm>
            <a:off x="731520" y="4526280"/>
            <a:ext cx="384048" cy="384048"/>
          </a:xfrm>
          <a:prstGeom prst="ellipse">
            <a:avLst/>
          </a:prstGeom>
          <a:solidFill>
            <a:srgbClr val="1F7A7A"/>
          </a:solidFill>
          <a:ln w="12700">
            <a:solidFill>
              <a:srgbClr val="1F7A7A"/>
            </a:solidFill>
            <a:prstDash val="solid"/>
          </a:ln>
        </p:spPr>
      </p:sp>
      <p:sp>
        <p:nvSpPr>
          <p:cNvPr id="13" name="Text 11"/>
          <p:cNvSpPr txBox="1"/>
          <p:nvPr/>
        </p:nvSpPr>
        <p:spPr>
          <a:xfrm>
            <a:off x="731520" y="45262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4" name="Text 12"/>
          <p:cNvSpPr txBox="1"/>
          <p:nvPr/>
        </p:nvSpPr>
        <p:spPr>
          <a:xfrm>
            <a:off x="1234440" y="4526280"/>
            <a:ext cx="1783080" cy="38404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Understand the data</a:t>
            </a:r>
            <a:endParaRPr lang="en-US" sz="1500" dirty="0"/>
          </a:p>
        </p:txBody>
      </p:sp>
      <p:sp>
        <p:nvSpPr>
          <p:cNvPr id="15" name="Text 13"/>
          <p:cNvSpPr txBox="1"/>
          <p:nvPr/>
        </p:nvSpPr>
        <p:spPr>
          <a:xfrm>
            <a:off x="731520" y="5074920"/>
            <a:ext cx="2240280" cy="1097280"/>
          </a:xfrm>
          <a:prstGeom prst="rect">
            <a:avLst/>
          </a:prstGeom>
          <a:noFill/>
          <a:ln/>
        </p:spPr>
        <p:txBody>
          <a:bodyPr wrap="square" lIns="0" tIns="0" rIns="0" bIns="0" rtlCol="0" anchor="t"/>
          <a:lstStyle/>
          <a:p>
            <a:pPr indent="0" marL="0">
              <a:buNone/>
            </a:pPr>
            <a:r>
              <a:rPr lang="en-US" sz="1250" dirty="0">
                <a:solidFill>
                  <a:srgbClr val="C9D6DA"/>
                </a:solidFill>
                <a:latin typeface="Calibri" pitchFamily="34" charset="0"/>
                <a:ea typeface="Calibri" pitchFamily="34" charset="-122"/>
                <a:cs typeface="Calibri" pitchFamily="34" charset="-120"/>
              </a:rPr>
              <a:t>What is one record, where does it come from, how do the sites differ? (T1)</a:t>
            </a:r>
            <a:endParaRPr lang="en-US" sz="1250" dirty="0"/>
          </a:p>
        </p:txBody>
      </p:sp>
      <p:sp>
        <p:nvSpPr>
          <p:cNvPr id="16" name="Shape 14"/>
          <p:cNvSpPr/>
          <p:nvPr/>
        </p:nvSpPr>
        <p:spPr>
          <a:xfrm>
            <a:off x="3367735" y="4343400"/>
            <a:ext cx="2606040" cy="1874520"/>
          </a:xfrm>
          <a:prstGeom prst="roundRect">
            <a:avLst>
              <a:gd name="adj" fmla="val 3902"/>
            </a:avLst>
          </a:prstGeom>
          <a:solidFill>
            <a:srgbClr val="1B3B47"/>
          </a:solidFill>
          <a:ln w="9525">
            <a:solidFill>
              <a:srgbClr val="2C5261"/>
            </a:solidFill>
            <a:prstDash val="solid"/>
          </a:ln>
        </p:spPr>
      </p:sp>
      <p:sp>
        <p:nvSpPr>
          <p:cNvPr id="17" name="Shape 15"/>
          <p:cNvSpPr/>
          <p:nvPr/>
        </p:nvSpPr>
        <p:spPr>
          <a:xfrm>
            <a:off x="3550615" y="4526280"/>
            <a:ext cx="384048" cy="384048"/>
          </a:xfrm>
          <a:prstGeom prst="ellipse">
            <a:avLst/>
          </a:prstGeom>
          <a:solidFill>
            <a:srgbClr val="1F7A7A"/>
          </a:solidFill>
          <a:ln w="12700">
            <a:solidFill>
              <a:srgbClr val="1F7A7A"/>
            </a:solidFill>
            <a:prstDash val="solid"/>
          </a:ln>
        </p:spPr>
      </p:sp>
      <p:sp>
        <p:nvSpPr>
          <p:cNvPr id="18" name="Text 16"/>
          <p:cNvSpPr txBox="1"/>
          <p:nvPr/>
        </p:nvSpPr>
        <p:spPr>
          <a:xfrm>
            <a:off x="3550615" y="45262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9" name="Text 17"/>
          <p:cNvSpPr txBox="1"/>
          <p:nvPr/>
        </p:nvSpPr>
        <p:spPr>
          <a:xfrm>
            <a:off x="4053535" y="4526280"/>
            <a:ext cx="1783080" cy="38404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Make it trustworthy</a:t>
            </a:r>
            <a:endParaRPr lang="en-US" sz="1500" dirty="0"/>
          </a:p>
        </p:txBody>
      </p:sp>
      <p:sp>
        <p:nvSpPr>
          <p:cNvPr id="20" name="Text 18"/>
          <p:cNvSpPr txBox="1"/>
          <p:nvPr/>
        </p:nvSpPr>
        <p:spPr>
          <a:xfrm>
            <a:off x="3550615" y="5074920"/>
            <a:ext cx="2240280" cy="1097280"/>
          </a:xfrm>
          <a:prstGeom prst="rect">
            <a:avLst/>
          </a:prstGeom>
          <a:noFill/>
          <a:ln/>
        </p:spPr>
        <p:txBody>
          <a:bodyPr wrap="square" lIns="0" tIns="0" rIns="0" bIns="0" rtlCol="0" anchor="t"/>
          <a:lstStyle/>
          <a:p>
            <a:pPr indent="0" marL="0">
              <a:buNone/>
            </a:pPr>
            <a:r>
              <a:rPr lang="en-US" sz="1250" dirty="0">
                <a:solidFill>
                  <a:srgbClr val="C9D6DA"/>
                </a:solidFill>
                <a:latin typeface="Calibri" pitchFamily="34" charset="0"/>
                <a:ea typeface="Calibri" pitchFamily="34" charset="-122"/>
                <a:cs typeface="Calibri" pitchFamily="34" charset="-120"/>
              </a:rPr>
              <a:t>Standardise, clean, remove redundancy, deal with missing values. (T2, T3)</a:t>
            </a:r>
            <a:endParaRPr lang="en-US" sz="1250" dirty="0"/>
          </a:p>
        </p:txBody>
      </p:sp>
      <p:sp>
        <p:nvSpPr>
          <p:cNvPr id="21" name="Shape 19"/>
          <p:cNvSpPr/>
          <p:nvPr/>
        </p:nvSpPr>
        <p:spPr>
          <a:xfrm>
            <a:off x="6186830" y="4343400"/>
            <a:ext cx="2606040" cy="1874520"/>
          </a:xfrm>
          <a:prstGeom prst="roundRect">
            <a:avLst>
              <a:gd name="adj" fmla="val 3902"/>
            </a:avLst>
          </a:prstGeom>
          <a:solidFill>
            <a:srgbClr val="1B3B47"/>
          </a:solidFill>
          <a:ln w="9525">
            <a:solidFill>
              <a:srgbClr val="2C5261"/>
            </a:solidFill>
            <a:prstDash val="solid"/>
          </a:ln>
        </p:spPr>
      </p:sp>
      <p:sp>
        <p:nvSpPr>
          <p:cNvPr id="22" name="Shape 20"/>
          <p:cNvSpPr/>
          <p:nvPr/>
        </p:nvSpPr>
        <p:spPr>
          <a:xfrm>
            <a:off x="6369710" y="4526280"/>
            <a:ext cx="384048" cy="384048"/>
          </a:xfrm>
          <a:prstGeom prst="ellipse">
            <a:avLst/>
          </a:prstGeom>
          <a:solidFill>
            <a:srgbClr val="1F7A7A"/>
          </a:solidFill>
          <a:ln w="12700">
            <a:solidFill>
              <a:srgbClr val="1F7A7A"/>
            </a:solidFill>
            <a:prstDash val="solid"/>
          </a:ln>
        </p:spPr>
      </p:sp>
      <p:sp>
        <p:nvSpPr>
          <p:cNvPr id="23" name="Text 21"/>
          <p:cNvSpPr txBox="1"/>
          <p:nvPr/>
        </p:nvSpPr>
        <p:spPr>
          <a:xfrm>
            <a:off x="6369710" y="45262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4" name="Text 22"/>
          <p:cNvSpPr txBox="1"/>
          <p:nvPr/>
        </p:nvSpPr>
        <p:spPr>
          <a:xfrm>
            <a:off x="6872630" y="4526280"/>
            <a:ext cx="1783080" cy="38404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Medical image work</a:t>
            </a:r>
            <a:endParaRPr lang="en-US" sz="1500" dirty="0"/>
          </a:p>
        </p:txBody>
      </p:sp>
      <p:sp>
        <p:nvSpPr>
          <p:cNvPr id="25" name="Text 23"/>
          <p:cNvSpPr txBox="1"/>
          <p:nvPr/>
        </p:nvSpPr>
        <p:spPr>
          <a:xfrm>
            <a:off x="6369710" y="5074920"/>
            <a:ext cx="2240280" cy="1097280"/>
          </a:xfrm>
          <a:prstGeom prst="rect">
            <a:avLst/>
          </a:prstGeom>
          <a:noFill/>
          <a:ln/>
        </p:spPr>
        <p:txBody>
          <a:bodyPr wrap="square" lIns="0" tIns="0" rIns="0" bIns="0" rtlCol="0" anchor="t"/>
          <a:lstStyle/>
          <a:p>
            <a:pPr indent="0" marL="0">
              <a:buNone/>
            </a:pPr>
            <a:r>
              <a:rPr lang="en-US" sz="1250" dirty="0">
                <a:solidFill>
                  <a:srgbClr val="C9D6DA"/>
                </a:solidFill>
                <a:latin typeface="Calibri" pitchFamily="34" charset="0"/>
                <a:ea typeface="Calibri" pitchFamily="34" charset="-122"/>
                <a:cs typeface="Calibri" pitchFamily="34" charset="-120"/>
              </a:rPr>
              <a:t>Enhance, restore, segment, compress, analyse and visualise CT-style images. (T4–T6)</a:t>
            </a:r>
            <a:endParaRPr lang="en-US" sz="1250" dirty="0"/>
          </a:p>
        </p:txBody>
      </p:sp>
      <p:sp>
        <p:nvSpPr>
          <p:cNvPr id="26" name="Shape 24"/>
          <p:cNvSpPr/>
          <p:nvPr/>
        </p:nvSpPr>
        <p:spPr>
          <a:xfrm>
            <a:off x="9005926" y="4343400"/>
            <a:ext cx="2606040" cy="1874520"/>
          </a:xfrm>
          <a:prstGeom prst="roundRect">
            <a:avLst>
              <a:gd name="adj" fmla="val 3902"/>
            </a:avLst>
          </a:prstGeom>
          <a:solidFill>
            <a:srgbClr val="1B3B47"/>
          </a:solidFill>
          <a:ln w="9525">
            <a:solidFill>
              <a:srgbClr val="2C5261"/>
            </a:solidFill>
            <a:prstDash val="solid"/>
          </a:ln>
        </p:spPr>
      </p:sp>
      <p:sp>
        <p:nvSpPr>
          <p:cNvPr id="27" name="Shape 25"/>
          <p:cNvSpPr/>
          <p:nvPr/>
        </p:nvSpPr>
        <p:spPr>
          <a:xfrm>
            <a:off x="9188806" y="4526280"/>
            <a:ext cx="384048" cy="384048"/>
          </a:xfrm>
          <a:prstGeom prst="ellipse">
            <a:avLst/>
          </a:prstGeom>
          <a:solidFill>
            <a:srgbClr val="1F7A7A"/>
          </a:solidFill>
          <a:ln w="12700">
            <a:solidFill>
              <a:srgbClr val="1F7A7A"/>
            </a:solidFill>
            <a:prstDash val="solid"/>
          </a:ln>
        </p:spPr>
      </p:sp>
      <p:sp>
        <p:nvSpPr>
          <p:cNvPr id="28" name="Text 26"/>
          <p:cNvSpPr txBox="1"/>
          <p:nvPr/>
        </p:nvSpPr>
        <p:spPr>
          <a:xfrm>
            <a:off x="9188806" y="45262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9" name="Text 27"/>
          <p:cNvSpPr txBox="1"/>
          <p:nvPr/>
        </p:nvSpPr>
        <p:spPr>
          <a:xfrm>
            <a:off x="9691726" y="4526280"/>
            <a:ext cx="1783080" cy="38404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Show the evidence</a:t>
            </a:r>
            <a:endParaRPr lang="en-US" sz="1500" dirty="0"/>
          </a:p>
        </p:txBody>
      </p:sp>
      <p:sp>
        <p:nvSpPr>
          <p:cNvPr id="30" name="Text 28"/>
          <p:cNvSpPr txBox="1"/>
          <p:nvPr/>
        </p:nvSpPr>
        <p:spPr>
          <a:xfrm>
            <a:off x="9188806" y="5074920"/>
            <a:ext cx="2240280" cy="1097280"/>
          </a:xfrm>
          <a:prstGeom prst="rect">
            <a:avLst/>
          </a:prstGeom>
          <a:noFill/>
          <a:ln/>
        </p:spPr>
        <p:txBody>
          <a:bodyPr wrap="square" lIns="0" tIns="0" rIns="0" bIns="0" rtlCol="0" anchor="t"/>
          <a:lstStyle/>
          <a:p>
            <a:pPr indent="0" marL="0">
              <a:buNone/>
            </a:pPr>
            <a:r>
              <a:rPr lang="en-US" sz="1250" dirty="0">
                <a:solidFill>
                  <a:srgbClr val="C9D6DA"/>
                </a:solidFill>
                <a:latin typeface="Calibri" pitchFamily="34" charset="0"/>
                <a:ea typeface="Calibri" pitchFamily="34" charset="-122"/>
                <a:cs typeface="Calibri" pitchFamily="34" charset="-120"/>
              </a:rPr>
              <a:t>Every step reports what it found and what it changed, in a working web app.</a:t>
            </a:r>
            <a:endParaRPr lang="en-US" sz="1250" dirty="0"/>
          </a:p>
        </p:txBody>
      </p:sp>
      <p:sp>
        <p:nvSpPr>
          <p:cNvPr id="31" name="Text 29"/>
          <p:cNvSpPr txBox="1"/>
          <p:nvPr/>
        </p:nvSpPr>
        <p:spPr>
          <a:xfrm>
            <a:off x="548640" y="6473952"/>
            <a:ext cx="5486400" cy="228600"/>
          </a:xfrm>
          <a:prstGeom prst="rect">
            <a:avLst/>
          </a:prstGeom>
          <a:noFill/>
          <a:ln/>
        </p:spPr>
        <p:txBody>
          <a:bodyPr wrap="square" lIns="0" tIns="0" rIns="0" bIns="0" rtlCol="0" anchor="ctr"/>
          <a:lstStyle/>
          <a:p>
            <a:pPr indent="0" marL="0">
              <a:buNone/>
            </a:pPr>
            <a:r>
              <a:rPr lang="en-US" sz="950" dirty="0">
                <a:solidFill>
                  <a:srgbClr val="C9D6DA"/>
                </a:solidFill>
                <a:latin typeface="Calibri" pitchFamily="34" charset="0"/>
                <a:ea typeface="Calibri" pitchFamily="34" charset="-122"/>
                <a:cs typeface="Calibri" pitchFamily="34" charset="-120"/>
              </a:rPr>
              <a:t>Operational &amp; Hospital Workflow Analytics</a:t>
            </a:r>
            <a:endParaRPr lang="en-US" sz="950" dirty="0"/>
          </a:p>
        </p:txBody>
      </p:sp>
      <p:sp>
        <p:nvSpPr>
          <p:cNvPr id="32" name="Text 30"/>
          <p:cNvSpPr txBox="1"/>
          <p:nvPr/>
        </p:nvSpPr>
        <p:spPr>
          <a:xfrm>
            <a:off x="11183112" y="6473952"/>
            <a:ext cx="457200" cy="228600"/>
          </a:xfrm>
          <a:prstGeom prst="rect">
            <a:avLst/>
          </a:prstGeom>
          <a:noFill/>
          <a:ln/>
        </p:spPr>
        <p:txBody>
          <a:bodyPr wrap="square" lIns="0" tIns="0" rIns="0" bIns="0" rtlCol="0" anchor="ctr"/>
          <a:lstStyle/>
          <a:p>
            <a:pPr algn="r" indent="0" marL="0">
              <a:buNone/>
            </a:pPr>
            <a:r>
              <a:rPr lang="en-US" sz="950" dirty="0">
                <a:solidFill>
                  <a:srgbClr val="C9D6DA"/>
                </a:solidFill>
                <a:latin typeface="Calibri" pitchFamily="34" charset="0"/>
                <a:ea typeface="Calibri" pitchFamily="34" charset="-122"/>
                <a:cs typeface="Calibri" pitchFamily="34" charset="-120"/>
              </a:rPr>
              <a:t>1</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1F7A7A"/>
                </a:solidFill>
                <a:latin typeface="Calibri" pitchFamily="34" charset="0"/>
                <a:ea typeface="Calibri" pitchFamily="34" charset="-122"/>
                <a:cs typeface="Calibri" pitchFamily="34" charset="-120"/>
              </a:rPr>
              <a:t>METHODOLOGY / TECHNICAL IMPLEMENTATION</a:t>
            </a:r>
            <a:endParaRPr lang="en-US" sz="1100" dirty="0"/>
          </a:p>
        </p:txBody>
      </p:sp>
      <p:sp>
        <p:nvSpPr>
          <p:cNvPr id="3" name="Text 1"/>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3000" b="1" dirty="0">
                <a:solidFill>
                  <a:srgbClr val="0F2A35"/>
                </a:solidFill>
                <a:latin typeface="Cambria" pitchFamily="34" charset="0"/>
                <a:ea typeface="Cambria" pitchFamily="34" charset="-122"/>
                <a:cs typeface="Cambria" pitchFamily="34" charset="-120"/>
              </a:rPr>
              <a:t>One pipeline, two data sources, one offline web app</a:t>
            </a:r>
            <a:endParaRPr lang="en-US" sz="3000" dirty="0"/>
          </a:p>
        </p:txBody>
      </p:sp>
      <p:sp>
        <p:nvSpPr>
          <p:cNvPr id="4" name="Shape 2"/>
          <p:cNvSpPr/>
          <p:nvPr/>
        </p:nvSpPr>
        <p:spPr>
          <a:xfrm>
            <a:off x="548640" y="1600200"/>
            <a:ext cx="2468880" cy="1371600"/>
          </a:xfrm>
          <a:prstGeom prst="roundRect">
            <a:avLst>
              <a:gd name="adj" fmla="val 5333"/>
            </a:avLst>
          </a:prstGeom>
          <a:solidFill>
            <a:srgbClr val="EEF3F3"/>
          </a:solidFill>
          <a:ln w="9525">
            <a:solidFill>
              <a:srgbClr val="D5E0E1"/>
            </a:solidFill>
            <a:prstDash val="solid"/>
          </a:ln>
        </p:spPr>
      </p:sp>
      <p:sp>
        <p:nvSpPr>
          <p:cNvPr id="5" name="Text 3"/>
          <p:cNvSpPr txBox="1"/>
          <p:nvPr/>
        </p:nvSpPr>
        <p:spPr>
          <a:xfrm>
            <a:off x="731520" y="1737360"/>
            <a:ext cx="2103120" cy="365760"/>
          </a:xfrm>
          <a:prstGeom prst="rect">
            <a:avLst/>
          </a:prstGeom>
          <a:noFill/>
          <a:ln/>
        </p:spPr>
        <p:txBody>
          <a:bodyPr wrap="square" lIns="0" tIns="0" rIns="0" bIns="0" rtlCol="0" anchor="ctr"/>
          <a:lstStyle/>
          <a:p>
            <a:pPr indent="0" marL="0">
              <a:buNone/>
            </a:pPr>
            <a:r>
              <a:rPr lang="en-US" sz="1700" b="1" dirty="0">
                <a:solidFill>
                  <a:srgbClr val="0F2A35"/>
                </a:solidFill>
                <a:latin typeface="Cambria" pitchFamily="34" charset="0"/>
                <a:ea typeface="Cambria" pitchFamily="34" charset="-122"/>
                <a:cs typeface="Cambria" pitchFamily="34" charset="-120"/>
              </a:rPr>
              <a:t>WaitData.xlsx</a:t>
            </a:r>
            <a:endParaRPr lang="en-US" sz="1700" dirty="0"/>
          </a:p>
        </p:txBody>
      </p:sp>
      <p:sp>
        <p:nvSpPr>
          <p:cNvPr id="6" name="Text 4"/>
          <p:cNvSpPr txBox="1"/>
          <p:nvPr/>
        </p:nvSpPr>
        <p:spPr>
          <a:xfrm>
            <a:off x="731520" y="2148840"/>
            <a:ext cx="2103120" cy="731520"/>
          </a:xfrm>
          <a:prstGeom prst="rect">
            <a:avLst/>
          </a:prstGeom>
          <a:noFill/>
          <a:ln/>
        </p:spPr>
        <p:txBody>
          <a:bodyPr wrap="square" lIns="0" tIns="0" rIns="0" bIns="0" rtlCol="0" anchor="t"/>
          <a:lstStyle/>
          <a:p>
            <a:pPr indent="0" marL="0">
              <a:buNone/>
            </a:pPr>
            <a:r>
              <a:rPr lang="en-US" sz="1250" dirty="0">
                <a:solidFill>
                  <a:srgbClr val="5B6B73"/>
                </a:solidFill>
                <a:latin typeface="Calibri" pitchFamily="34" charset="0"/>
                <a:ea typeface="Calibri" pitchFamily="34" charset="-122"/>
                <a:cs typeface="Calibri" pitchFamily="34" charset="-120"/>
              </a:rPr>
              <a:t>4 sheets, 130k rows</a:t>
            </a:r>
            <a:endParaRPr lang="en-US" sz="1250" dirty="0"/>
          </a:p>
          <a:p>
            <a:pPr indent="0" marL="0">
              <a:buNone/>
            </a:pPr>
            <a:r>
              <a:rPr lang="en-US" sz="1250" dirty="0">
                <a:solidFill>
                  <a:srgbClr val="5B6B73"/>
                </a:solidFill>
                <a:latin typeface="Calibri" pitchFamily="34" charset="0"/>
                <a:ea typeface="Calibri" pitchFamily="34" charset="-122"/>
                <a:cs typeface="Calibri" pitchFamily="34" charset="-120"/>
              </a:rPr>
              <a:t>54 MB, read once and cached</a:t>
            </a:r>
            <a:endParaRPr lang="en-US" sz="1250" dirty="0"/>
          </a:p>
        </p:txBody>
      </p:sp>
      <p:sp>
        <p:nvSpPr>
          <p:cNvPr id="7" name="Text 5"/>
          <p:cNvSpPr txBox="1"/>
          <p:nvPr/>
        </p:nvSpPr>
        <p:spPr>
          <a:xfrm>
            <a:off x="3017520" y="1965960"/>
            <a:ext cx="393192" cy="457200"/>
          </a:xfrm>
          <a:prstGeom prst="rect">
            <a:avLst/>
          </a:prstGeom>
          <a:noFill/>
          <a:ln/>
        </p:spPr>
        <p:txBody>
          <a:bodyPr wrap="square" lIns="0" tIns="0" rIns="0" bIns="0" rtlCol="0" anchor="ctr"/>
          <a:lstStyle/>
          <a:p>
            <a:pPr algn="ctr" indent="0" marL="0">
              <a:buNone/>
            </a:pPr>
            <a:r>
              <a:rPr lang="en-US" sz="2200" dirty="0">
                <a:solidFill>
                  <a:srgbClr val="1F7A7A"/>
                </a:solidFill>
                <a:latin typeface="Calibri" pitchFamily="34" charset="0"/>
                <a:ea typeface="Calibri" pitchFamily="34" charset="-122"/>
                <a:cs typeface="Calibri" pitchFamily="34" charset="-120"/>
              </a:rPr>
              <a:t>→</a:t>
            </a:r>
            <a:endParaRPr lang="en-US" sz="2200" dirty="0"/>
          </a:p>
        </p:txBody>
      </p:sp>
      <p:sp>
        <p:nvSpPr>
          <p:cNvPr id="8" name="Shape 6"/>
          <p:cNvSpPr/>
          <p:nvPr/>
        </p:nvSpPr>
        <p:spPr>
          <a:xfrm>
            <a:off x="3410712" y="1600200"/>
            <a:ext cx="2468880" cy="1371600"/>
          </a:xfrm>
          <a:prstGeom prst="roundRect">
            <a:avLst>
              <a:gd name="adj" fmla="val 5333"/>
            </a:avLst>
          </a:prstGeom>
          <a:solidFill>
            <a:srgbClr val="1F7A7A"/>
          </a:solidFill>
          <a:ln w="9525">
            <a:solidFill>
              <a:srgbClr val="1F7A7A"/>
            </a:solidFill>
            <a:prstDash val="solid"/>
          </a:ln>
        </p:spPr>
      </p:sp>
      <p:sp>
        <p:nvSpPr>
          <p:cNvPr id="9" name="Text 7"/>
          <p:cNvSpPr txBox="1"/>
          <p:nvPr/>
        </p:nvSpPr>
        <p:spPr>
          <a:xfrm>
            <a:off x="3593592" y="1737360"/>
            <a:ext cx="2103120" cy="36576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Python pipeline</a:t>
            </a:r>
            <a:endParaRPr lang="en-US" sz="1700" dirty="0"/>
          </a:p>
        </p:txBody>
      </p:sp>
      <p:sp>
        <p:nvSpPr>
          <p:cNvPr id="10" name="Text 8"/>
          <p:cNvSpPr txBox="1"/>
          <p:nvPr/>
        </p:nvSpPr>
        <p:spPr>
          <a:xfrm>
            <a:off x="3593592" y="2148840"/>
            <a:ext cx="2103120" cy="731520"/>
          </a:xfrm>
          <a:prstGeom prst="rect">
            <a:avLst/>
          </a:prstGeom>
          <a:noFill/>
          <a:ln/>
        </p:spPr>
        <p:txBody>
          <a:bodyPr wrap="square" lIns="0" tIns="0" rIns="0" bIns="0" rtlCol="0" anchor="t"/>
          <a:lstStyle/>
          <a:p>
            <a:pPr indent="0" marL="0">
              <a:buNone/>
            </a:pPr>
            <a:r>
              <a:rPr lang="en-US" sz="1250" dirty="0">
                <a:solidFill>
                  <a:srgbClr val="E4F3F2"/>
                </a:solidFill>
                <a:latin typeface="Calibri" pitchFamily="34" charset="0"/>
                <a:ea typeface="Calibri" pitchFamily="34" charset="-122"/>
                <a:cs typeface="Calibri" pitchFamily="34" charset="-120"/>
              </a:rPr>
              <a:t>pandas · scikit-learn</a:t>
            </a:r>
            <a:endParaRPr lang="en-US" sz="1250" dirty="0"/>
          </a:p>
          <a:p>
            <a:pPr indent="0" marL="0">
              <a:buNone/>
            </a:pPr>
            <a:r>
              <a:rPr lang="en-US" sz="1250" dirty="0">
                <a:solidFill>
                  <a:srgbClr val="E4F3F2"/>
                </a:solidFill>
                <a:latin typeface="Calibri" pitchFamily="34" charset="0"/>
                <a:ea typeface="Calibri" pitchFamily="34" charset="-122"/>
                <a:cs typeface="Calibri" pitchFamily="34" charset="-120"/>
              </a:rPr>
              <a:t>scikit-image · PyTorch</a:t>
            </a:r>
            <a:endParaRPr lang="en-US" sz="1250" dirty="0"/>
          </a:p>
        </p:txBody>
      </p:sp>
      <p:sp>
        <p:nvSpPr>
          <p:cNvPr id="11" name="Text 9"/>
          <p:cNvSpPr txBox="1"/>
          <p:nvPr/>
        </p:nvSpPr>
        <p:spPr>
          <a:xfrm>
            <a:off x="5879592" y="1965960"/>
            <a:ext cx="393192" cy="457200"/>
          </a:xfrm>
          <a:prstGeom prst="rect">
            <a:avLst/>
          </a:prstGeom>
          <a:noFill/>
          <a:ln/>
        </p:spPr>
        <p:txBody>
          <a:bodyPr wrap="square" lIns="0" tIns="0" rIns="0" bIns="0" rtlCol="0" anchor="ctr"/>
          <a:lstStyle/>
          <a:p>
            <a:pPr algn="ctr" indent="0" marL="0">
              <a:buNone/>
            </a:pPr>
            <a:r>
              <a:rPr lang="en-US" sz="2200" dirty="0">
                <a:solidFill>
                  <a:srgbClr val="1F7A7A"/>
                </a:solidFill>
                <a:latin typeface="Calibri" pitchFamily="34" charset="0"/>
                <a:ea typeface="Calibri" pitchFamily="34" charset="-122"/>
                <a:cs typeface="Calibri" pitchFamily="34" charset="-120"/>
              </a:rPr>
              <a:t>→</a:t>
            </a:r>
            <a:endParaRPr lang="en-US" sz="2200" dirty="0"/>
          </a:p>
        </p:txBody>
      </p:sp>
      <p:sp>
        <p:nvSpPr>
          <p:cNvPr id="12" name="Shape 10"/>
          <p:cNvSpPr/>
          <p:nvPr/>
        </p:nvSpPr>
        <p:spPr>
          <a:xfrm>
            <a:off x="6272784" y="1600200"/>
            <a:ext cx="2468880" cy="1371600"/>
          </a:xfrm>
          <a:prstGeom prst="roundRect">
            <a:avLst>
              <a:gd name="adj" fmla="val 5333"/>
            </a:avLst>
          </a:prstGeom>
          <a:solidFill>
            <a:srgbClr val="EEF3F3"/>
          </a:solidFill>
          <a:ln w="9525">
            <a:solidFill>
              <a:srgbClr val="D5E0E1"/>
            </a:solidFill>
            <a:prstDash val="solid"/>
          </a:ln>
        </p:spPr>
      </p:sp>
      <p:sp>
        <p:nvSpPr>
          <p:cNvPr id="13" name="Text 11"/>
          <p:cNvSpPr txBox="1"/>
          <p:nvPr/>
        </p:nvSpPr>
        <p:spPr>
          <a:xfrm>
            <a:off x="6455664" y="1737360"/>
            <a:ext cx="2103120" cy="365760"/>
          </a:xfrm>
          <a:prstGeom prst="rect">
            <a:avLst/>
          </a:prstGeom>
          <a:noFill/>
          <a:ln/>
        </p:spPr>
        <p:txBody>
          <a:bodyPr wrap="square" lIns="0" tIns="0" rIns="0" bIns="0" rtlCol="0" anchor="ctr"/>
          <a:lstStyle/>
          <a:p>
            <a:pPr indent="0" marL="0">
              <a:buNone/>
            </a:pPr>
            <a:r>
              <a:rPr lang="en-US" sz="1700" b="1" dirty="0">
                <a:solidFill>
                  <a:srgbClr val="0F2A35"/>
                </a:solidFill>
                <a:latin typeface="Cambria" pitchFamily="34" charset="0"/>
                <a:ea typeface="Cambria" pitchFamily="34" charset="-122"/>
                <a:cs typeface="Cambria" pitchFamily="34" charset="-120"/>
              </a:rPr>
              <a:t>Results as data</a:t>
            </a:r>
            <a:endParaRPr lang="en-US" sz="1700" dirty="0"/>
          </a:p>
        </p:txBody>
      </p:sp>
      <p:sp>
        <p:nvSpPr>
          <p:cNvPr id="14" name="Text 12"/>
          <p:cNvSpPr txBox="1"/>
          <p:nvPr/>
        </p:nvSpPr>
        <p:spPr>
          <a:xfrm>
            <a:off x="6455664" y="2148840"/>
            <a:ext cx="2103120" cy="731520"/>
          </a:xfrm>
          <a:prstGeom prst="rect">
            <a:avLst/>
          </a:prstGeom>
          <a:noFill/>
          <a:ln/>
        </p:spPr>
        <p:txBody>
          <a:bodyPr wrap="square" lIns="0" tIns="0" rIns="0" bIns="0" rtlCol="0" anchor="t"/>
          <a:lstStyle/>
          <a:p>
            <a:pPr indent="0" marL="0">
              <a:buNone/>
            </a:pPr>
            <a:r>
              <a:rPr lang="en-US" sz="1250" dirty="0">
                <a:solidFill>
                  <a:srgbClr val="5B6B73"/>
                </a:solidFill>
                <a:latin typeface="Calibri" pitchFamily="34" charset="0"/>
                <a:ea typeface="Calibri" pitchFamily="34" charset="-122"/>
                <a:cs typeface="Calibri" pitchFamily="34" charset="-120"/>
              </a:rPr>
              <a:t>JSON + PNG files</a:t>
            </a:r>
            <a:endParaRPr lang="en-US" sz="1250" dirty="0"/>
          </a:p>
          <a:p>
            <a:pPr indent="0" marL="0">
              <a:buNone/>
            </a:pPr>
            <a:r>
              <a:rPr lang="en-US" sz="1250" dirty="0">
                <a:solidFill>
                  <a:srgbClr val="5B6B73"/>
                </a:solidFill>
                <a:latin typeface="Calibri" pitchFamily="34" charset="0"/>
                <a:ea typeface="Calibri" pitchFamily="34" charset="-122"/>
                <a:cs typeface="Calibri" pitchFamily="34" charset="-120"/>
              </a:rPr>
              <a:t>every number the UI shows</a:t>
            </a:r>
            <a:endParaRPr lang="en-US" sz="1250" dirty="0"/>
          </a:p>
        </p:txBody>
      </p:sp>
      <p:sp>
        <p:nvSpPr>
          <p:cNvPr id="15" name="Text 13"/>
          <p:cNvSpPr txBox="1"/>
          <p:nvPr/>
        </p:nvSpPr>
        <p:spPr>
          <a:xfrm>
            <a:off x="8741664" y="1965960"/>
            <a:ext cx="393192" cy="457200"/>
          </a:xfrm>
          <a:prstGeom prst="rect">
            <a:avLst/>
          </a:prstGeom>
          <a:noFill/>
          <a:ln/>
        </p:spPr>
        <p:txBody>
          <a:bodyPr wrap="square" lIns="0" tIns="0" rIns="0" bIns="0" rtlCol="0" anchor="ctr"/>
          <a:lstStyle/>
          <a:p>
            <a:pPr algn="ctr" indent="0" marL="0">
              <a:buNone/>
            </a:pPr>
            <a:r>
              <a:rPr lang="en-US" sz="2200" dirty="0">
                <a:solidFill>
                  <a:srgbClr val="1F7A7A"/>
                </a:solidFill>
                <a:latin typeface="Calibri" pitchFamily="34" charset="0"/>
                <a:ea typeface="Calibri" pitchFamily="34" charset="-122"/>
                <a:cs typeface="Calibri" pitchFamily="34" charset="-120"/>
              </a:rPr>
              <a:t>→</a:t>
            </a:r>
            <a:endParaRPr lang="en-US" sz="2200" dirty="0"/>
          </a:p>
        </p:txBody>
      </p:sp>
      <p:sp>
        <p:nvSpPr>
          <p:cNvPr id="16" name="Shape 14"/>
          <p:cNvSpPr/>
          <p:nvPr/>
        </p:nvSpPr>
        <p:spPr>
          <a:xfrm>
            <a:off x="9134856" y="1600200"/>
            <a:ext cx="2468880" cy="1371600"/>
          </a:xfrm>
          <a:prstGeom prst="roundRect">
            <a:avLst>
              <a:gd name="adj" fmla="val 5333"/>
            </a:avLst>
          </a:prstGeom>
          <a:solidFill>
            <a:srgbClr val="EEF3F3"/>
          </a:solidFill>
          <a:ln w="9525">
            <a:solidFill>
              <a:srgbClr val="D5E0E1"/>
            </a:solidFill>
            <a:prstDash val="solid"/>
          </a:ln>
        </p:spPr>
      </p:sp>
      <p:sp>
        <p:nvSpPr>
          <p:cNvPr id="17" name="Text 15"/>
          <p:cNvSpPr txBox="1"/>
          <p:nvPr/>
        </p:nvSpPr>
        <p:spPr>
          <a:xfrm>
            <a:off x="9317736" y="1737360"/>
            <a:ext cx="2103120" cy="365760"/>
          </a:xfrm>
          <a:prstGeom prst="rect">
            <a:avLst/>
          </a:prstGeom>
          <a:noFill/>
          <a:ln/>
        </p:spPr>
        <p:txBody>
          <a:bodyPr wrap="square" lIns="0" tIns="0" rIns="0" bIns="0" rtlCol="0" anchor="ctr"/>
          <a:lstStyle/>
          <a:p>
            <a:pPr indent="0" marL="0">
              <a:buNone/>
            </a:pPr>
            <a:r>
              <a:rPr lang="en-US" sz="1700" b="1" dirty="0">
                <a:solidFill>
                  <a:srgbClr val="0F2A35"/>
                </a:solidFill>
                <a:latin typeface="Cambria" pitchFamily="34" charset="0"/>
                <a:ea typeface="Cambria" pitchFamily="34" charset="-122"/>
                <a:cs typeface="Cambria" pitchFamily="34" charset="-120"/>
              </a:rPr>
              <a:t>Static web app</a:t>
            </a:r>
            <a:endParaRPr lang="en-US" sz="1700" dirty="0"/>
          </a:p>
        </p:txBody>
      </p:sp>
      <p:sp>
        <p:nvSpPr>
          <p:cNvPr id="18" name="Text 16"/>
          <p:cNvSpPr txBox="1"/>
          <p:nvPr/>
        </p:nvSpPr>
        <p:spPr>
          <a:xfrm>
            <a:off x="9317736" y="2148840"/>
            <a:ext cx="2103120" cy="731520"/>
          </a:xfrm>
          <a:prstGeom prst="rect">
            <a:avLst/>
          </a:prstGeom>
          <a:noFill/>
          <a:ln/>
        </p:spPr>
        <p:txBody>
          <a:bodyPr wrap="square" lIns="0" tIns="0" rIns="0" bIns="0" rtlCol="0" anchor="t"/>
          <a:lstStyle/>
          <a:p>
            <a:pPr indent="0" marL="0">
              <a:buNone/>
            </a:pPr>
            <a:r>
              <a:rPr lang="en-US" sz="1250" dirty="0">
                <a:solidFill>
                  <a:srgbClr val="5B6B73"/>
                </a:solidFill>
                <a:latin typeface="Calibri" pitchFamily="34" charset="0"/>
                <a:ea typeface="Calibri" pitchFamily="34" charset="-122"/>
                <a:cs typeface="Calibri" pitchFamily="34" charset="-120"/>
              </a:rPr>
              <a:t>no framework, no server</a:t>
            </a:r>
            <a:endParaRPr lang="en-US" sz="1250" dirty="0"/>
          </a:p>
          <a:p>
            <a:pPr indent="0" marL="0">
              <a:buNone/>
            </a:pPr>
            <a:r>
              <a:rPr lang="en-US" sz="1250" dirty="0">
                <a:solidFill>
                  <a:srgbClr val="5B6B73"/>
                </a:solidFill>
                <a:latin typeface="Calibri" pitchFamily="34" charset="0"/>
                <a:ea typeface="Calibri" pitchFamily="34" charset="-122"/>
                <a:cs typeface="Calibri" pitchFamily="34" charset="-120"/>
              </a:rPr>
              <a:t>SVG charts + canvas viewer</a:t>
            </a:r>
            <a:endParaRPr lang="en-US" sz="1250" dirty="0"/>
          </a:p>
        </p:txBody>
      </p:sp>
      <p:sp>
        <p:nvSpPr>
          <p:cNvPr id="19" name="Shape 17"/>
          <p:cNvSpPr/>
          <p:nvPr/>
        </p:nvSpPr>
        <p:spPr>
          <a:xfrm>
            <a:off x="3410712" y="3291840"/>
            <a:ext cx="2468880" cy="685800"/>
          </a:xfrm>
          <a:prstGeom prst="roundRect">
            <a:avLst>
              <a:gd name="adj" fmla="val 10667"/>
            </a:avLst>
          </a:prstGeom>
          <a:solidFill>
            <a:srgbClr val="FDECE6"/>
          </a:solidFill>
          <a:ln w="9525">
            <a:solidFill>
              <a:srgbClr val="E4572E"/>
            </a:solidFill>
            <a:prstDash val="solid"/>
          </a:ln>
        </p:spPr>
      </p:sp>
      <p:sp>
        <p:nvSpPr>
          <p:cNvPr id="20" name="Text 18"/>
          <p:cNvSpPr txBox="1"/>
          <p:nvPr/>
        </p:nvSpPr>
        <p:spPr>
          <a:xfrm>
            <a:off x="3547872" y="3291840"/>
            <a:ext cx="2194560" cy="685800"/>
          </a:xfrm>
          <a:prstGeom prst="rect">
            <a:avLst/>
          </a:prstGeom>
          <a:noFill/>
          <a:ln/>
        </p:spPr>
        <p:txBody>
          <a:bodyPr wrap="square" lIns="0" tIns="0" rIns="0" bIns="0" rtlCol="0" anchor="ctr"/>
          <a:lstStyle/>
          <a:p>
            <a:pPr algn="ctr" indent="0" marL="0">
              <a:buNone/>
            </a:pPr>
            <a:r>
              <a:rPr lang="en-US" sz="1250" b="1" dirty="0">
                <a:solidFill>
                  <a:srgbClr val="8A2A0F"/>
                </a:solidFill>
                <a:latin typeface="Calibri" pitchFamily="34" charset="0"/>
                <a:ea typeface="Calibri" pitchFamily="34" charset="-122"/>
                <a:cs typeface="Calibri" pitchFamily="34" charset="-120"/>
              </a:rPr>
              <a:t>Synthetic CT phantom feeds T4–T6</a:t>
            </a:r>
            <a:endParaRPr lang="en-US" sz="1250" dirty="0"/>
          </a:p>
        </p:txBody>
      </p:sp>
      <p:sp>
        <p:nvSpPr>
          <p:cNvPr id="21" name="Text 19"/>
          <p:cNvSpPr txBox="1"/>
          <p:nvPr/>
        </p:nvSpPr>
        <p:spPr>
          <a:xfrm>
            <a:off x="4416552" y="2971800"/>
            <a:ext cx="457200" cy="320040"/>
          </a:xfrm>
          <a:prstGeom prst="rect">
            <a:avLst/>
          </a:prstGeom>
          <a:noFill/>
          <a:ln/>
        </p:spPr>
        <p:txBody>
          <a:bodyPr wrap="square" lIns="0" tIns="0" rIns="0" bIns="0" rtlCol="0" anchor="ctr"/>
          <a:lstStyle/>
          <a:p>
            <a:pPr algn="ctr" indent="0" marL="0">
              <a:buNone/>
            </a:pPr>
            <a:r>
              <a:rPr lang="en-US" sz="1600" dirty="0">
                <a:solidFill>
                  <a:srgbClr val="E4572E"/>
                </a:solidFill>
                <a:latin typeface="Calibri" pitchFamily="34" charset="0"/>
                <a:ea typeface="Calibri" pitchFamily="34" charset="-122"/>
                <a:cs typeface="Calibri" pitchFamily="34" charset="-120"/>
              </a:rPr>
              <a:t>↑</a:t>
            </a:r>
            <a:endParaRPr lang="en-US" sz="1600" dirty="0"/>
          </a:p>
        </p:txBody>
      </p:sp>
      <p:sp>
        <p:nvSpPr>
          <p:cNvPr id="22" name="Text 20"/>
          <p:cNvSpPr txBox="1"/>
          <p:nvPr/>
        </p:nvSpPr>
        <p:spPr>
          <a:xfrm>
            <a:off x="548640" y="4251960"/>
            <a:ext cx="5303520" cy="365760"/>
          </a:xfrm>
          <a:prstGeom prst="rect">
            <a:avLst/>
          </a:prstGeom>
          <a:noFill/>
          <a:ln/>
        </p:spPr>
        <p:txBody>
          <a:bodyPr wrap="square" lIns="0" tIns="0" rIns="0" bIns="0" rtlCol="0" anchor="ctr"/>
          <a:lstStyle/>
          <a:p>
            <a:pPr indent="0" marL="0">
              <a:buNone/>
            </a:pPr>
            <a:r>
              <a:rPr lang="en-US" sz="1700" b="1" dirty="0">
                <a:solidFill>
                  <a:srgbClr val="0F2A35"/>
                </a:solidFill>
                <a:latin typeface="Cambria" pitchFamily="34" charset="0"/>
                <a:ea typeface="Cambria" pitchFamily="34" charset="-122"/>
                <a:cs typeface="Cambria" pitchFamily="34" charset="-120"/>
              </a:rPr>
              <a:t>T1–T3 on the real workbook</a:t>
            </a:r>
            <a:endParaRPr lang="en-US" sz="1700" dirty="0"/>
          </a:p>
        </p:txBody>
      </p:sp>
      <p:sp>
        <p:nvSpPr>
          <p:cNvPr id="23" name="Text 21"/>
          <p:cNvSpPr txBox="1"/>
          <p:nvPr/>
        </p:nvSpPr>
        <p:spPr>
          <a:xfrm>
            <a:off x="548640" y="4663440"/>
            <a:ext cx="5303520" cy="1737360"/>
          </a:xfrm>
          <a:prstGeom prst="rect">
            <a:avLst/>
          </a:prstGeom>
          <a:noFill/>
          <a:ln/>
        </p:spPr>
        <p:txBody>
          <a:bodyPr wrap="square" lIns="0" tIns="0" rIns="0" bIns="0" rtlCol="0" anchor="t"/>
          <a:lstStyle/>
          <a:p>
            <a:pPr marL="177800" indent="-177800">
              <a:spcAft>
                <a:spcPts val="700"/>
              </a:spcAft>
              <a:buSzPct val="100000"/>
              <a:buChar char="•"/>
            </a:pPr>
            <a:r>
              <a:rPr lang="en-US" sz="1300" dirty="0">
                <a:solidFill>
                  <a:srgbClr val="0F2A35"/>
                </a:solidFill>
                <a:latin typeface="Calibri" pitchFamily="34" charset="0"/>
                <a:ea typeface="Calibri" pitchFamily="34" charset="-122"/>
                <a:cs typeface="Calibri" pitchFamily="34" charset="-120"/>
              </a:rPr>
              <a:t>Timestamps re-derived so “wait” means the same thing at every site</a:t>
            </a:r>
            <a:endParaRPr lang="en-US" sz="1300" dirty="0"/>
          </a:p>
          <a:p>
            <a:pPr marL="177800" indent="-177800">
              <a:spcAft>
                <a:spcPts val="700"/>
              </a:spcAft>
              <a:buSzPct val="100000"/>
              <a:buChar char="•"/>
            </a:pPr>
            <a:r>
              <a:rPr lang="en-US" sz="1300" dirty="0">
                <a:solidFill>
                  <a:srgbClr val="0F2A35"/>
                </a:solidFill>
                <a:latin typeface="Calibri" pitchFamily="34" charset="0"/>
                <a:ea typeface="Calibri" pitchFamily="34" charset="-122"/>
                <a:cs typeface="Calibri" pitchFamily="34" charset="-120"/>
              </a:rPr>
              <a:t>Four-stage column pruning, checked on a time-based hold-out</a:t>
            </a:r>
            <a:endParaRPr lang="en-US" sz="1300" dirty="0"/>
          </a:p>
          <a:p>
            <a:pPr marL="177800" indent="-177800">
              <a:spcAft>
                <a:spcPts val="700"/>
              </a:spcAft>
              <a:buSzPct val="100000"/>
              <a:buChar char="•"/>
            </a:pPr>
            <a:r>
              <a:rPr lang="en-US" sz="1300" dirty="0">
                <a:solidFill>
                  <a:srgbClr val="0F2A35"/>
                </a:solidFill>
                <a:latin typeface="Calibri" pitchFamily="34" charset="0"/>
                <a:ea typeface="Calibri" pitchFamily="34" charset="-122"/>
                <a:cs typeface="Calibri" pitchFamily="34" charset="-120"/>
              </a:rPr>
              <a:t>Rule search for zeros that really mean “undefined”</a:t>
            </a:r>
            <a:endParaRPr lang="en-US" sz="1300" dirty="0"/>
          </a:p>
          <a:p>
            <a:pPr marL="177800" indent="-177800">
              <a:spcAft>
                <a:spcPts val="700"/>
              </a:spcAft>
              <a:buSzPct val="100000"/>
              <a:buChar char="•"/>
            </a:pPr>
            <a:r>
              <a:rPr lang="en-US" sz="1300" dirty="0">
                <a:solidFill>
                  <a:srgbClr val="0F2A35"/>
                </a:solidFill>
                <a:latin typeface="Calibri" pitchFamily="34" charset="0"/>
                <a:ea typeface="Calibri" pitchFamily="34" charset="-122"/>
                <a:cs typeface="Calibri" pitchFamily="34" charset="-120"/>
              </a:rPr>
              <a:t>Imputers benchmarked by hiding values we already know</a:t>
            </a:r>
            <a:endParaRPr lang="en-US" sz="1300" dirty="0"/>
          </a:p>
        </p:txBody>
      </p:sp>
      <p:sp>
        <p:nvSpPr>
          <p:cNvPr id="24" name="Text 22"/>
          <p:cNvSpPr txBox="1"/>
          <p:nvPr/>
        </p:nvSpPr>
        <p:spPr>
          <a:xfrm>
            <a:off x="6309360" y="4251960"/>
            <a:ext cx="5303520" cy="365760"/>
          </a:xfrm>
          <a:prstGeom prst="rect">
            <a:avLst/>
          </a:prstGeom>
          <a:noFill/>
          <a:ln/>
        </p:spPr>
        <p:txBody>
          <a:bodyPr wrap="square" lIns="0" tIns="0" rIns="0" bIns="0" rtlCol="0" anchor="ctr"/>
          <a:lstStyle/>
          <a:p>
            <a:pPr indent="0" marL="0">
              <a:buNone/>
            </a:pPr>
            <a:r>
              <a:rPr lang="en-US" sz="1700" b="1" dirty="0">
                <a:solidFill>
                  <a:srgbClr val="0F2A35"/>
                </a:solidFill>
                <a:latin typeface="Cambria" pitchFamily="34" charset="0"/>
                <a:ea typeface="Cambria" pitchFamily="34" charset="-122"/>
                <a:cs typeface="Cambria" pitchFamily="34" charset="-120"/>
              </a:rPr>
              <a:t>T4–T6 on the generated phantom</a:t>
            </a:r>
            <a:endParaRPr lang="en-US" sz="1700" dirty="0"/>
          </a:p>
        </p:txBody>
      </p:sp>
      <p:sp>
        <p:nvSpPr>
          <p:cNvPr id="25" name="Text 23"/>
          <p:cNvSpPr txBox="1"/>
          <p:nvPr/>
        </p:nvSpPr>
        <p:spPr>
          <a:xfrm>
            <a:off x="6309360" y="4663440"/>
            <a:ext cx="5303520" cy="1737360"/>
          </a:xfrm>
          <a:prstGeom prst="rect">
            <a:avLst/>
          </a:prstGeom>
          <a:noFill/>
          <a:ln/>
        </p:spPr>
        <p:txBody>
          <a:bodyPr wrap="square" lIns="0" tIns="0" rIns="0" bIns="0" rtlCol="0" anchor="t"/>
          <a:lstStyle/>
          <a:p>
            <a:pPr marL="177800" indent="-177800">
              <a:spcAft>
                <a:spcPts val="700"/>
              </a:spcAft>
              <a:buSzPct val="100000"/>
              <a:buChar char="•"/>
            </a:pPr>
            <a:r>
              <a:rPr lang="en-US" sz="1300" dirty="0">
                <a:solidFill>
                  <a:srgbClr val="0F2A35"/>
                </a:solidFill>
                <a:latin typeface="Calibri" pitchFamily="34" charset="0"/>
                <a:ea typeface="Calibri" pitchFamily="34" charset="-122"/>
                <a:cs typeface="Calibri" pitchFamily="34" charset="-120"/>
              </a:rPr>
              <a:t>Hounsfield-unit chest slices with nodules of known size and density</a:t>
            </a:r>
            <a:endParaRPr lang="en-US" sz="1300" dirty="0"/>
          </a:p>
          <a:p>
            <a:pPr marL="177800" indent="-177800">
              <a:spcAft>
                <a:spcPts val="700"/>
              </a:spcAft>
              <a:buSzPct val="100000"/>
              <a:buChar char="•"/>
            </a:pPr>
            <a:r>
              <a:rPr lang="en-US" sz="1300" dirty="0">
                <a:solidFill>
                  <a:srgbClr val="0F2A35"/>
                </a:solidFill>
                <a:latin typeface="Calibri" pitchFamily="34" charset="0"/>
                <a:ea typeface="Calibri" pitchFamily="34" charset="-122"/>
                <a:cs typeface="Calibri" pitchFamily="34" charset="-120"/>
              </a:rPr>
              <a:t>Every method scored against exact ground truth (PSNR, Dice, error in mm)</a:t>
            </a:r>
            <a:endParaRPr lang="en-US" sz="1300" dirty="0"/>
          </a:p>
          <a:p>
            <a:pPr marL="177800" indent="-177800">
              <a:spcAft>
                <a:spcPts val="700"/>
              </a:spcAft>
              <a:buSzPct val="100000"/>
              <a:buChar char="•"/>
            </a:pPr>
            <a:r>
              <a:rPr lang="en-US" sz="1300" dirty="0">
                <a:solidFill>
                  <a:srgbClr val="0F2A35"/>
                </a:solidFill>
                <a:latin typeface="Calibri" pitchFamily="34" charset="0"/>
                <a:ea typeface="Calibri" pitchFamily="34" charset="-122"/>
                <a:cs typeface="Calibri" pitchFamily="34" charset="-120"/>
              </a:rPr>
              <a:t>SIFT + RANSAC for registration, a 6k-parameter CNN for nodules</a:t>
            </a:r>
            <a:endParaRPr lang="en-US" sz="1300" dirty="0"/>
          </a:p>
          <a:p>
            <a:pPr marL="177800" indent="-177800">
              <a:spcAft>
                <a:spcPts val="700"/>
              </a:spcAft>
              <a:buSzPct val="100000"/>
              <a:buChar char="•"/>
            </a:pPr>
            <a:r>
              <a:rPr lang="en-US" sz="1300" dirty="0">
                <a:solidFill>
                  <a:srgbClr val="0F2A35"/>
                </a:solidFill>
                <a:latin typeface="Calibri" pitchFamily="34" charset="0"/>
                <a:ea typeface="Calibri" pitchFamily="34" charset="-122"/>
                <a:cs typeface="Calibri" pitchFamily="34" charset="-120"/>
              </a:rPr>
              <a:t>Interactive viewer written directly on the canvas</a:t>
            </a:r>
            <a:endParaRPr lang="en-US" sz="1300" dirty="0"/>
          </a:p>
        </p:txBody>
      </p:sp>
      <p:sp>
        <p:nvSpPr>
          <p:cNvPr id="26" name="Text 24"/>
          <p:cNvSpPr txBox="1"/>
          <p:nvPr/>
        </p:nvSpPr>
        <p:spPr>
          <a:xfrm>
            <a:off x="548640" y="6473952"/>
            <a:ext cx="5486400" cy="228600"/>
          </a:xfrm>
          <a:prstGeom prst="rect">
            <a:avLst/>
          </a:prstGeom>
          <a:noFill/>
          <a:ln/>
        </p:spPr>
        <p:txBody>
          <a:bodyPr wrap="square" lIns="0" tIns="0" rIns="0" bIns="0" rtlCol="0" anchor="ctr"/>
          <a:lstStyle/>
          <a:p>
            <a:pPr indent="0" marL="0">
              <a:buNone/>
            </a:pPr>
            <a:r>
              <a:rPr lang="en-US" sz="950" dirty="0">
                <a:solidFill>
                  <a:srgbClr val="5B6B73"/>
                </a:solidFill>
                <a:latin typeface="Calibri" pitchFamily="34" charset="0"/>
                <a:ea typeface="Calibri" pitchFamily="34" charset="-122"/>
                <a:cs typeface="Calibri" pitchFamily="34" charset="-120"/>
              </a:rPr>
              <a:t>Operational &amp; Hospital Workflow Analytics</a:t>
            </a:r>
            <a:endParaRPr lang="en-US" sz="950" dirty="0"/>
          </a:p>
        </p:txBody>
      </p:sp>
      <p:sp>
        <p:nvSpPr>
          <p:cNvPr id="27" name="Text 25"/>
          <p:cNvSpPr txBox="1"/>
          <p:nvPr/>
        </p:nvSpPr>
        <p:spPr>
          <a:xfrm>
            <a:off x="11183112" y="6473952"/>
            <a:ext cx="457200" cy="228600"/>
          </a:xfrm>
          <a:prstGeom prst="rect">
            <a:avLst/>
          </a:prstGeom>
          <a:noFill/>
          <a:ln/>
        </p:spPr>
        <p:txBody>
          <a:bodyPr wrap="square" lIns="0" tIns="0" rIns="0" bIns="0" rtlCol="0" anchor="ctr"/>
          <a:lstStyle/>
          <a:p>
            <a:pPr algn="r" indent="0" marL="0">
              <a:buNone/>
            </a:pPr>
            <a:r>
              <a:rPr lang="en-US" sz="950" dirty="0">
                <a:solidFill>
                  <a:srgbClr val="5B6B73"/>
                </a:solidFill>
                <a:latin typeface="Calibri" pitchFamily="34" charset="0"/>
                <a:ea typeface="Calibri" pitchFamily="34" charset="-122"/>
                <a:cs typeface="Calibri" pitchFamily="34" charset="-120"/>
              </a:rPr>
              <a:t>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1F7A7A"/>
                </a:solidFill>
                <a:latin typeface="Calibri" pitchFamily="34" charset="0"/>
                <a:ea typeface="Calibri" pitchFamily="34" charset="-122"/>
                <a:cs typeface="Calibri" pitchFamily="34" charset="-120"/>
              </a:rPr>
              <a:t>T1 · UNDERSTANDING EHR DATA</a:t>
            </a:r>
            <a:endParaRPr lang="en-US" sz="1100" dirty="0"/>
          </a:p>
        </p:txBody>
      </p:sp>
      <p:sp>
        <p:nvSpPr>
          <p:cNvPr id="3" name="Text 1"/>
          <p:cNvSpPr txBox="1"/>
          <p:nvPr/>
        </p:nvSpPr>
        <p:spPr>
          <a:xfrm>
            <a:off x="548640" y="621792"/>
            <a:ext cx="4206240" cy="1188720"/>
          </a:xfrm>
          <a:prstGeom prst="rect">
            <a:avLst/>
          </a:prstGeom>
          <a:noFill/>
          <a:ln/>
        </p:spPr>
        <p:txBody>
          <a:bodyPr wrap="square" lIns="0" tIns="0" rIns="0" bIns="0" rtlCol="0" anchor="t"/>
          <a:lstStyle/>
          <a:p>
            <a:pPr indent="0" marL="0">
              <a:buNone/>
            </a:pPr>
            <a:r>
              <a:rPr lang="en-US" sz="3000" b="1" dirty="0">
                <a:solidFill>
                  <a:srgbClr val="0F2A35"/>
                </a:solidFill>
                <a:latin typeface="Cambria" pitchFamily="34" charset="0"/>
                <a:ea typeface="Cambria" pitchFamily="34" charset="-122"/>
                <a:cs typeface="Cambria" pitchFamily="34" charset="-120"/>
              </a:rPr>
              <a:t>One row per exam, four different hospitals</a:t>
            </a:r>
            <a:endParaRPr lang="en-US" sz="3000" dirty="0"/>
          </a:p>
        </p:txBody>
      </p:sp>
      <p:sp>
        <p:nvSpPr>
          <p:cNvPr id="4" name="Text 2"/>
          <p:cNvSpPr txBox="1"/>
          <p:nvPr/>
        </p:nvSpPr>
        <p:spPr>
          <a:xfrm>
            <a:off x="548640" y="1920240"/>
            <a:ext cx="4114800" cy="1325880"/>
          </a:xfrm>
          <a:prstGeom prst="rect">
            <a:avLst/>
          </a:prstGeom>
          <a:noFill/>
          <a:ln/>
        </p:spPr>
        <p:txBody>
          <a:bodyPr wrap="square" lIns="0" tIns="0" rIns="0" bIns="0" rtlCol="0" anchor="t"/>
          <a:lstStyle/>
          <a:p>
            <a:pPr indent="0" marL="0">
              <a:buNone/>
            </a:pPr>
            <a:r>
              <a:rPr lang="en-US" sz="1350" dirty="0">
                <a:solidFill>
                  <a:srgbClr val="0F2A35"/>
                </a:solidFill>
                <a:latin typeface="Calibri" pitchFamily="34" charset="0"/>
                <a:ea typeface="Calibri" pitchFamily="34" charset="-122"/>
                <a:cs typeface="Calibri" pitchFamily="34" charset="-120"/>
              </a:rPr>
              <a:t>Before cleaning anything we asked what a record actually is. Each row is one imaging exam with three timestamps (arrival, scheduled slot, exam start) plus a snapshot of what the department looked like when the patient walked in.</a:t>
            </a:r>
            <a:endParaRPr lang="en-US" sz="1350" dirty="0"/>
          </a:p>
        </p:txBody>
      </p:sp>
      <p:sp>
        <p:nvSpPr>
          <p:cNvPr id="5" name="Text 3"/>
          <p:cNvSpPr txBox="1"/>
          <p:nvPr/>
        </p:nvSpPr>
        <p:spPr>
          <a:xfrm>
            <a:off x="548640" y="3337560"/>
            <a:ext cx="4114800" cy="658368"/>
          </a:xfrm>
          <a:prstGeom prst="rect">
            <a:avLst/>
          </a:prstGeom>
          <a:noFill/>
          <a:ln/>
        </p:spPr>
        <p:txBody>
          <a:bodyPr wrap="square" lIns="0" tIns="0" rIns="0" bIns="0" rtlCol="0" anchor="b"/>
          <a:lstStyle/>
          <a:p>
            <a:pPr indent="0" marL="0">
              <a:buNone/>
            </a:pPr>
            <a:r>
              <a:rPr lang="en-US" sz="3000" b="1" dirty="0">
                <a:solidFill>
                  <a:srgbClr val="1F7A7A"/>
                </a:solidFill>
                <a:latin typeface="Cambria" pitchFamily="34" charset="0"/>
                <a:ea typeface="Cambria" pitchFamily="34" charset="-122"/>
                <a:cs typeface="Cambria" pitchFamily="34" charset="-120"/>
              </a:rPr>
              <a:t>6–55 min</a:t>
            </a:r>
            <a:endParaRPr lang="en-US" sz="3000" dirty="0"/>
          </a:p>
        </p:txBody>
      </p:sp>
      <p:sp>
        <p:nvSpPr>
          <p:cNvPr id="6" name="Text 4"/>
          <p:cNvSpPr txBox="1"/>
          <p:nvPr/>
        </p:nvSpPr>
        <p:spPr>
          <a:xfrm>
            <a:off x="548640" y="4014216"/>
            <a:ext cx="4114800" cy="457200"/>
          </a:xfrm>
          <a:prstGeom prst="rect">
            <a:avLst/>
          </a:prstGeom>
          <a:noFill/>
          <a:ln/>
        </p:spPr>
        <p:txBody>
          <a:bodyPr wrap="square" lIns="0" tIns="0" rIns="0" bIns="0" rtlCol="0" anchor="t"/>
          <a:lstStyle/>
          <a:p>
            <a:pPr indent="0" marL="0">
              <a:buNone/>
            </a:pPr>
            <a:r>
              <a:rPr lang="en-US" sz="1200" dirty="0">
                <a:solidFill>
                  <a:srgbClr val="5B6B73"/>
                </a:solidFill>
                <a:latin typeface="Calibri" pitchFamily="34" charset="0"/>
                <a:ea typeface="Calibri" pitchFamily="34" charset="-122"/>
                <a:cs typeface="Calibri" pitchFamily="34" charset="-120"/>
              </a:rPr>
              <a:t>median wait, from F4 (lowest) to F3 (highest)</a:t>
            </a:r>
            <a:endParaRPr lang="en-US" sz="1200" dirty="0"/>
          </a:p>
        </p:txBody>
      </p:sp>
      <p:sp>
        <p:nvSpPr>
          <p:cNvPr id="7" name="Text 5"/>
          <p:cNvSpPr txBox="1"/>
          <p:nvPr/>
        </p:nvSpPr>
        <p:spPr>
          <a:xfrm>
            <a:off x="548640" y="4480560"/>
            <a:ext cx="4114800" cy="658368"/>
          </a:xfrm>
          <a:prstGeom prst="rect">
            <a:avLst/>
          </a:prstGeom>
          <a:noFill/>
          <a:ln/>
        </p:spPr>
        <p:txBody>
          <a:bodyPr wrap="square" lIns="0" tIns="0" rIns="0" bIns="0" rtlCol="0" anchor="b"/>
          <a:lstStyle/>
          <a:p>
            <a:pPr indent="0" marL="0">
              <a:buNone/>
            </a:pPr>
            <a:r>
              <a:rPr lang="en-US" sz="3000" b="1" dirty="0">
                <a:solidFill>
                  <a:srgbClr val="1F7A7A"/>
                </a:solidFill>
                <a:latin typeface="Cambria" pitchFamily="34" charset="0"/>
                <a:ea typeface="Cambria" pitchFamily="34" charset="-122"/>
                <a:cs typeface="Cambria" pitchFamily="34" charset="-120"/>
              </a:rPr>
              <a:t>89 → 61</a:t>
            </a:r>
            <a:endParaRPr lang="en-US" sz="3000" dirty="0"/>
          </a:p>
        </p:txBody>
      </p:sp>
      <p:sp>
        <p:nvSpPr>
          <p:cNvPr id="8" name="Text 6"/>
          <p:cNvSpPr txBox="1"/>
          <p:nvPr/>
        </p:nvSpPr>
        <p:spPr>
          <a:xfrm>
            <a:off x="548640" y="5157216"/>
            <a:ext cx="4114800" cy="457200"/>
          </a:xfrm>
          <a:prstGeom prst="rect">
            <a:avLst/>
          </a:prstGeom>
          <a:noFill/>
          <a:ln/>
        </p:spPr>
        <p:txBody>
          <a:bodyPr wrap="square" lIns="0" tIns="0" rIns="0" bIns="0" rtlCol="0" anchor="t"/>
          <a:lstStyle/>
          <a:p>
            <a:pPr indent="0" marL="0">
              <a:buNone/>
            </a:pPr>
            <a:r>
              <a:rPr lang="en-US" sz="1200" dirty="0">
                <a:solidFill>
                  <a:srgbClr val="5B6B73"/>
                </a:solidFill>
                <a:latin typeface="Calibri" pitchFamily="34" charset="0"/>
                <a:ea typeface="Calibri" pitchFamily="34" charset="-122"/>
                <a:cs typeface="Calibri" pitchFamily="34" charset="-120"/>
              </a:rPr>
              <a:t>features documented, and how many exist at all four sites</a:t>
            </a:r>
            <a:endParaRPr lang="en-US" sz="1200" dirty="0"/>
          </a:p>
        </p:txBody>
      </p:sp>
      <p:sp>
        <p:nvSpPr>
          <p:cNvPr id="9" name="Text 7"/>
          <p:cNvSpPr txBox="1"/>
          <p:nvPr/>
        </p:nvSpPr>
        <p:spPr>
          <a:xfrm>
            <a:off x="548640" y="5760720"/>
            <a:ext cx="4114800" cy="457200"/>
          </a:xfrm>
          <a:prstGeom prst="rect">
            <a:avLst/>
          </a:prstGeom>
          <a:noFill/>
          <a:ln/>
        </p:spPr>
        <p:txBody>
          <a:bodyPr wrap="square" lIns="0" tIns="0" rIns="0" bIns="0" rtlCol="0" anchor="t"/>
          <a:lstStyle/>
          <a:p>
            <a:pPr indent="0" marL="0">
              <a:buNone/>
            </a:pPr>
            <a:r>
              <a:rPr lang="en-US" sz="1200" i="1" dirty="0">
                <a:solidFill>
                  <a:srgbClr val="5B6B73"/>
                </a:solidFill>
                <a:latin typeface="Calibri" pitchFamily="34" charset="0"/>
                <a:ea typeface="Calibri" pitchFamily="34" charset="-122"/>
                <a:cs typeface="Calibri" pitchFamily="34" charset="-120"/>
              </a:rPr>
              <a:t>No diagnoses, no patient IDs: it is an operational extract, not a clinical record.</a:t>
            </a:r>
            <a:endParaRPr lang="en-US" sz="1200" dirty="0"/>
          </a:p>
        </p:txBody>
      </p:sp>
      <p:sp>
        <p:nvSpPr>
          <p:cNvPr id="10" name="Shape 8"/>
          <p:cNvSpPr/>
          <p:nvPr/>
        </p:nvSpPr>
        <p:spPr>
          <a:xfrm>
            <a:off x="4992624" y="887489"/>
            <a:ext cx="6702552" cy="2339822"/>
          </a:xfrm>
          <a:prstGeom prst="rect">
            <a:avLst/>
          </a:prstGeom>
          <a:solidFill>
            <a:srgbClr val="FFFFFF"/>
          </a:solidFill>
          <a:ln w="9525">
            <a:solidFill>
              <a:srgbClr val="D5E0E1"/>
            </a:solidFill>
            <a:prstDash val="solid"/>
          </a:ln>
          <a:effectLst>
            <a:outerShdw sx="100000" sy="100000" kx="0" ky="0" algn="bl" rotWithShape="0" blurRad="76200" dist="19050" dir="5400000">
              <a:srgbClr val="000000">
                <a:alpha val="12000"/>
              </a:srgbClr>
            </a:outerShdw>
          </a:effectLst>
        </p:spPr>
      </p:sp>
      <p:pic>
        <p:nvPicPr>
          <p:cNvPr id="11" name="Image 0" descr="Patient journey chart and derived durations">    </p:cNvPr>
          <p:cNvPicPr>
            <a:picLocks noChangeAspect="1"/>
          </p:cNvPicPr>
          <p:nvPr/>
        </p:nvPicPr>
        <p:blipFill>
          <a:blip r:embed="rId1"/>
          <a:stretch>
            <a:fillRect/>
          </a:stretch>
        </p:blipFill>
        <p:spPr>
          <a:xfrm>
            <a:off x="5029200" y="924065"/>
            <a:ext cx="6629400" cy="2266670"/>
          </a:xfrm>
          <a:prstGeom prst="rect">
            <a:avLst/>
          </a:prstGeom>
        </p:spPr>
      </p:pic>
      <p:sp>
        <p:nvSpPr>
          <p:cNvPr id="12" name="Text 9"/>
          <p:cNvSpPr txBox="1"/>
          <p:nvPr/>
        </p:nvSpPr>
        <p:spPr>
          <a:xfrm>
            <a:off x="5029200" y="3282175"/>
            <a:ext cx="6583680" cy="274320"/>
          </a:xfrm>
          <a:prstGeom prst="rect">
            <a:avLst/>
          </a:prstGeom>
          <a:noFill/>
          <a:ln/>
        </p:spPr>
        <p:txBody>
          <a:bodyPr wrap="square" lIns="0" tIns="0" rIns="0" bIns="0" rtlCol="0" anchor="t"/>
          <a:lstStyle/>
          <a:p>
            <a:pPr indent="0" marL="0">
              <a:buNone/>
            </a:pPr>
            <a:r>
              <a:rPr lang="en-US" sz="1100" i="1" dirty="0">
                <a:solidFill>
                  <a:srgbClr val="5B6B73"/>
                </a:solidFill>
                <a:latin typeface="Calibri" pitchFamily="34" charset="0"/>
                <a:ea typeface="Calibri" pitchFamily="34" charset="-122"/>
                <a:cs typeface="Calibri" pitchFamily="34" charset="-120"/>
              </a:rPr>
              <a:t>Median patient journey per facility</a:t>
            </a:r>
            <a:endParaRPr lang="en-US" sz="1100" dirty="0"/>
          </a:p>
        </p:txBody>
      </p:sp>
      <p:sp>
        <p:nvSpPr>
          <p:cNvPr id="13" name="Shape 10"/>
          <p:cNvSpPr/>
          <p:nvPr/>
        </p:nvSpPr>
        <p:spPr>
          <a:xfrm>
            <a:off x="4992624" y="4045587"/>
            <a:ext cx="6702552" cy="1738626"/>
          </a:xfrm>
          <a:prstGeom prst="rect">
            <a:avLst/>
          </a:prstGeom>
          <a:solidFill>
            <a:srgbClr val="FFFFFF"/>
          </a:solidFill>
          <a:ln w="9525">
            <a:solidFill>
              <a:srgbClr val="D5E0E1"/>
            </a:solidFill>
            <a:prstDash val="solid"/>
          </a:ln>
          <a:effectLst>
            <a:outerShdw sx="100000" sy="100000" kx="0" ky="0" algn="bl" rotWithShape="0" blurRad="76200" dist="19050" dir="5400000">
              <a:srgbClr val="000000">
                <a:alpha val="12000"/>
              </a:srgbClr>
            </a:outerShdw>
          </a:effectLst>
        </p:spPr>
      </p:sp>
      <p:pic>
        <p:nvPicPr>
          <p:cNvPr id="14" name="Image 1" descr="Facility comparison table">    </p:cNvPr>
          <p:cNvPicPr>
            <a:picLocks noChangeAspect="1"/>
          </p:cNvPicPr>
          <p:nvPr/>
        </p:nvPicPr>
        <p:blipFill>
          <a:blip r:embed="rId2"/>
          <a:stretch>
            <a:fillRect/>
          </a:stretch>
        </p:blipFill>
        <p:spPr>
          <a:xfrm>
            <a:off x="5029200" y="4082163"/>
            <a:ext cx="6629400" cy="1665474"/>
          </a:xfrm>
          <a:prstGeom prst="rect">
            <a:avLst/>
          </a:prstGeom>
        </p:spPr>
      </p:pic>
      <p:sp>
        <p:nvSpPr>
          <p:cNvPr id="15" name="Text 11"/>
          <p:cNvSpPr txBox="1"/>
          <p:nvPr/>
        </p:nvSpPr>
        <p:spPr>
          <a:xfrm>
            <a:off x="5029200" y="5839077"/>
            <a:ext cx="6583680" cy="274320"/>
          </a:xfrm>
          <a:prstGeom prst="rect">
            <a:avLst/>
          </a:prstGeom>
          <a:noFill/>
          <a:ln/>
        </p:spPr>
        <p:txBody>
          <a:bodyPr wrap="square" lIns="0" tIns="0" rIns="0" bIns="0" rtlCol="0" anchor="t"/>
          <a:lstStyle/>
          <a:p>
            <a:pPr indent="0" marL="0">
              <a:buNone/>
            </a:pPr>
            <a:r>
              <a:rPr lang="en-US" sz="1100" i="1" dirty="0">
                <a:solidFill>
                  <a:srgbClr val="5B6B73"/>
                </a:solidFill>
                <a:latin typeface="Calibri" pitchFamily="34" charset="0"/>
                <a:ea typeface="Calibri" pitchFamily="34" charset="-122"/>
                <a:cs typeface="Calibri" pitchFamily="34" charset="-120"/>
              </a:rPr>
              <a:t>The facilities differ in volume, scanners and scheduling style</a:t>
            </a:r>
            <a:endParaRPr lang="en-US" sz="1100" dirty="0"/>
          </a:p>
        </p:txBody>
      </p:sp>
      <p:sp>
        <p:nvSpPr>
          <p:cNvPr id="16" name="Text 12"/>
          <p:cNvSpPr txBox="1"/>
          <p:nvPr/>
        </p:nvSpPr>
        <p:spPr>
          <a:xfrm>
            <a:off x="548640" y="6473952"/>
            <a:ext cx="5486400" cy="228600"/>
          </a:xfrm>
          <a:prstGeom prst="rect">
            <a:avLst/>
          </a:prstGeom>
          <a:noFill/>
          <a:ln/>
        </p:spPr>
        <p:txBody>
          <a:bodyPr wrap="square" lIns="0" tIns="0" rIns="0" bIns="0" rtlCol="0" anchor="ctr"/>
          <a:lstStyle/>
          <a:p>
            <a:pPr indent="0" marL="0">
              <a:buNone/>
            </a:pPr>
            <a:r>
              <a:rPr lang="en-US" sz="950" dirty="0">
                <a:solidFill>
                  <a:srgbClr val="5B6B73"/>
                </a:solidFill>
                <a:latin typeface="Calibri" pitchFamily="34" charset="0"/>
                <a:ea typeface="Calibri" pitchFamily="34" charset="-122"/>
                <a:cs typeface="Calibri" pitchFamily="34" charset="-120"/>
              </a:rPr>
              <a:t>Operational &amp; Hospital Workflow Analytics</a:t>
            </a:r>
            <a:endParaRPr lang="en-US" sz="950" dirty="0"/>
          </a:p>
        </p:txBody>
      </p:sp>
      <p:sp>
        <p:nvSpPr>
          <p:cNvPr id="17" name="Text 13"/>
          <p:cNvSpPr txBox="1"/>
          <p:nvPr/>
        </p:nvSpPr>
        <p:spPr>
          <a:xfrm>
            <a:off x="11183112" y="6473952"/>
            <a:ext cx="457200" cy="228600"/>
          </a:xfrm>
          <a:prstGeom prst="rect">
            <a:avLst/>
          </a:prstGeom>
          <a:noFill/>
          <a:ln/>
        </p:spPr>
        <p:txBody>
          <a:bodyPr wrap="square" lIns="0" tIns="0" rIns="0" bIns="0" rtlCol="0" anchor="ctr"/>
          <a:lstStyle/>
          <a:p>
            <a:pPr algn="r" indent="0" marL="0">
              <a:buNone/>
            </a:pPr>
            <a:r>
              <a:rPr lang="en-US" sz="950" dirty="0">
                <a:solidFill>
                  <a:srgbClr val="5B6B73"/>
                </a:solidFill>
                <a:latin typeface="Calibri" pitchFamily="34" charset="0"/>
                <a:ea typeface="Calibri" pitchFamily="34" charset="-122"/>
                <a:cs typeface="Calibri" pitchFamily="34" charset="-120"/>
              </a:rPr>
              <a:t>3</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1F7A7A"/>
                </a:solidFill>
                <a:latin typeface="Calibri" pitchFamily="34" charset="0"/>
                <a:ea typeface="Calibri" pitchFamily="34" charset="-122"/>
                <a:cs typeface="Calibri" pitchFamily="34" charset="-120"/>
              </a:rPr>
              <a:t>T2 · PREPROCESSING: STANDARDISATION AND CLEANING</a:t>
            </a:r>
            <a:endParaRPr lang="en-US" sz="1100" dirty="0"/>
          </a:p>
        </p:txBody>
      </p:sp>
      <p:sp>
        <p:nvSpPr>
          <p:cNvPr id="3" name="Text 1"/>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3000" b="1" dirty="0">
                <a:solidFill>
                  <a:srgbClr val="0F2A35"/>
                </a:solidFill>
                <a:latin typeface="Cambria" pitchFamily="34" charset="0"/>
                <a:ea typeface="Cambria" pitchFamily="34" charset="-122"/>
                <a:cs typeface="Cambria" pitchFamily="34" charset="-120"/>
              </a:rPr>
              <a:t>“Wait” did not mean the same thing at every site</a:t>
            </a:r>
            <a:endParaRPr lang="en-US" sz="3000" dirty="0"/>
          </a:p>
        </p:txBody>
      </p:sp>
      <p:sp>
        <p:nvSpPr>
          <p:cNvPr id="4" name="Shape 2"/>
          <p:cNvSpPr/>
          <p:nvPr/>
        </p:nvSpPr>
        <p:spPr>
          <a:xfrm>
            <a:off x="512064" y="2001260"/>
            <a:ext cx="4553712" cy="3678440"/>
          </a:xfrm>
          <a:prstGeom prst="rect">
            <a:avLst/>
          </a:prstGeom>
          <a:solidFill>
            <a:srgbClr val="FFFFFF"/>
          </a:solidFill>
          <a:ln w="9525">
            <a:solidFill>
              <a:srgbClr val="D5E0E1"/>
            </a:solidFill>
            <a:prstDash val="solid"/>
          </a:ln>
          <a:effectLst>
            <a:outerShdw sx="100000" sy="100000" kx="0" ky="0" algn="bl" rotWithShape="0" blurRad="76200" dist="19050" dir="5400000">
              <a:srgbClr val="000000">
                <a:alpha val="12000"/>
              </a:srgbClr>
            </a:outerShdw>
          </a:effectLst>
        </p:spPr>
      </p:sp>
      <p:pic>
        <p:nvPicPr>
          <p:cNvPr id="5" name="Image 0" descr="Median wait as published versus standardised">    </p:cNvPr>
          <p:cNvPicPr>
            <a:picLocks noChangeAspect="1"/>
          </p:cNvPicPr>
          <p:nvPr/>
        </p:nvPicPr>
        <p:blipFill>
          <a:blip r:embed="rId1"/>
          <a:stretch>
            <a:fillRect/>
          </a:stretch>
        </p:blipFill>
        <p:spPr>
          <a:xfrm>
            <a:off x="548640" y="2037836"/>
            <a:ext cx="4480560" cy="3605288"/>
          </a:xfrm>
          <a:prstGeom prst="rect">
            <a:avLst/>
          </a:prstGeom>
        </p:spPr>
      </p:pic>
      <p:sp>
        <p:nvSpPr>
          <p:cNvPr id="6" name="Text 3"/>
          <p:cNvSpPr txBox="1"/>
          <p:nvPr/>
        </p:nvSpPr>
        <p:spPr>
          <a:xfrm>
            <a:off x="548640" y="5734564"/>
            <a:ext cx="4480560" cy="274320"/>
          </a:xfrm>
          <a:prstGeom prst="rect">
            <a:avLst/>
          </a:prstGeom>
          <a:noFill/>
          <a:ln/>
        </p:spPr>
        <p:txBody>
          <a:bodyPr wrap="square" lIns="0" tIns="0" rIns="0" bIns="0" rtlCol="0" anchor="t"/>
          <a:lstStyle/>
          <a:p>
            <a:pPr indent="0" marL="0">
              <a:buNone/>
            </a:pPr>
            <a:r>
              <a:rPr lang="en-US" sz="1100" i="1" dirty="0">
                <a:solidFill>
                  <a:srgbClr val="5B6B73"/>
                </a:solidFill>
                <a:latin typeface="Calibri" pitchFamily="34" charset="0"/>
                <a:ea typeface="Calibri" pitchFamily="34" charset="-122"/>
                <a:cs typeface="Calibri" pitchFamily="34" charset="-120"/>
              </a:rPr>
              <a:t>Published Wait vs the standardised wait_min</a:t>
            </a:r>
            <a:endParaRPr lang="en-US" sz="1100" dirty="0"/>
          </a:p>
        </p:txBody>
      </p:sp>
      <p:sp>
        <p:nvSpPr>
          <p:cNvPr id="7" name="Text 4"/>
          <p:cNvSpPr txBox="1"/>
          <p:nvPr/>
        </p:nvSpPr>
        <p:spPr>
          <a:xfrm>
            <a:off x="5394960" y="1463040"/>
            <a:ext cx="6217920" cy="365760"/>
          </a:xfrm>
          <a:prstGeom prst="rect">
            <a:avLst/>
          </a:prstGeom>
          <a:noFill/>
          <a:ln/>
        </p:spPr>
        <p:txBody>
          <a:bodyPr wrap="square" lIns="0" tIns="0" rIns="0" bIns="0" rtlCol="0" anchor="ctr"/>
          <a:lstStyle/>
          <a:p>
            <a:pPr indent="0" marL="0">
              <a:buNone/>
            </a:pPr>
            <a:r>
              <a:rPr lang="en-US" sz="1800" b="1" dirty="0">
                <a:solidFill>
                  <a:srgbClr val="0F2A35"/>
                </a:solidFill>
                <a:latin typeface="Cambria" pitchFamily="34" charset="0"/>
                <a:ea typeface="Cambria" pitchFamily="34" charset="-122"/>
                <a:cs typeface="Cambria" pitchFamily="34" charset="-120"/>
              </a:rPr>
              <a:t>What we found and fixed</a:t>
            </a:r>
            <a:endParaRPr lang="en-US" sz="1800" dirty="0"/>
          </a:p>
        </p:txBody>
      </p:sp>
      <p:sp>
        <p:nvSpPr>
          <p:cNvPr id="8" name="Text 5"/>
          <p:cNvSpPr txBox="1"/>
          <p:nvPr/>
        </p:nvSpPr>
        <p:spPr>
          <a:xfrm>
            <a:off x="5394960" y="1920240"/>
            <a:ext cx="6217920" cy="2743200"/>
          </a:xfrm>
          <a:prstGeom prst="rect">
            <a:avLst/>
          </a:prstGeom>
          <a:noFill/>
          <a:ln/>
        </p:spPr>
        <p:txBody>
          <a:bodyPr wrap="square" lIns="0" tIns="0" rIns="0" bIns="0" rtlCol="0" anchor="t"/>
          <a:lstStyle/>
          <a:p>
            <a:pPr marL="177800" indent="-177800">
              <a:spcAft>
                <a:spcPts val="700"/>
              </a:spcAft>
              <a:buSzPct val="100000"/>
              <a:buChar char="•"/>
            </a:pPr>
            <a:r>
              <a:rPr lang="en-US" sz="1350" dirty="0">
                <a:solidFill>
                  <a:srgbClr val="0F2A35"/>
                </a:solidFill>
                <a:latin typeface="Calibri" pitchFamily="34" charset="0"/>
                <a:ea typeface="Calibri" pitchFamily="34" charset="-122"/>
                <a:cs typeface="Calibri" pitchFamily="34" charset="-120"/>
              </a:rPr>
              <a:t>F4 publishes begin minus arrival; F1–F3 publish begin minus scheduled. We recomputed one definition from the timestamps for every site.</a:t>
            </a:r>
            <a:endParaRPr lang="en-US" sz="1350" dirty="0"/>
          </a:p>
          <a:p>
            <a:pPr marL="177800" indent="-177800">
              <a:spcAft>
                <a:spcPts val="700"/>
              </a:spcAft>
              <a:buSzPct val="100000"/>
              <a:buChar char="•"/>
            </a:pPr>
            <a:r>
              <a:rPr lang="en-US" sz="1350" dirty="0">
                <a:solidFill>
                  <a:srgbClr val="0F2A35"/>
                </a:solidFill>
                <a:latin typeface="Calibri" pitchFamily="34" charset="0"/>
                <a:ea typeface="Calibri" pitchFamily="34" charset="-122"/>
                <a:cs typeface="Calibri" pitchFamily="34" charset="-120"/>
              </a:rPr>
              <a:t>Timestamps are date-shifted by a constant amount. Source calendar columns only agree 100% after that shift, so we kept durations and time of day and did not invent real dates.</a:t>
            </a:r>
            <a:endParaRPr lang="en-US" sz="1350" dirty="0"/>
          </a:p>
          <a:p>
            <a:pPr marL="177800" indent="-177800">
              <a:spcAft>
                <a:spcPts val="700"/>
              </a:spcAft>
              <a:buSzPct val="100000"/>
              <a:buChar char="•"/>
            </a:pPr>
            <a:r>
              <a:rPr lang="en-US" sz="1350" dirty="0">
                <a:solidFill>
                  <a:srgbClr val="0F2A35"/>
                </a:solidFill>
                <a:latin typeface="Calibri" pitchFamily="34" charset="0"/>
                <a:ea typeface="Calibri" pitchFamily="34" charset="-122"/>
                <a:cs typeface="Calibri" pitchFamily="34" charset="-120"/>
              </a:rPr>
              <a:t>Day of week used Sunday = 1; converted to ISO. 96 blank calendar cells were derived from the timestamp, and 32 contradicting is_first flags were recomputed.</a:t>
            </a:r>
            <a:endParaRPr lang="en-US" sz="1350" dirty="0"/>
          </a:p>
          <a:p>
            <a:pPr marL="177800" indent="-177800">
              <a:spcAft>
                <a:spcPts val="700"/>
              </a:spcAft>
              <a:buSzPct val="100000"/>
              <a:buChar char="•"/>
            </a:pPr>
            <a:r>
              <a:rPr lang="en-US" sz="1350" dirty="0">
                <a:solidFill>
                  <a:srgbClr val="0F2A35"/>
                </a:solidFill>
                <a:latin typeface="Calibri" pitchFamily="34" charset="0"/>
                <a:ea typeface="Calibri" pitchFamily="34" charset="-122"/>
                <a:cs typeface="Calibri" pitchFamily="34" charset="-120"/>
              </a:rPr>
              <a:t>Long waits are flagged, never deleted: they are real events. 50 numeric features were z-scored using only each site's first 70% of time.</a:t>
            </a:r>
            <a:endParaRPr lang="en-US" sz="1350" dirty="0"/>
          </a:p>
        </p:txBody>
      </p:sp>
      <p:sp>
        <p:nvSpPr>
          <p:cNvPr id="9" name="Shape 6"/>
          <p:cNvSpPr/>
          <p:nvPr/>
        </p:nvSpPr>
        <p:spPr>
          <a:xfrm>
            <a:off x="5482163" y="4581144"/>
            <a:ext cx="3391755" cy="1719072"/>
          </a:xfrm>
          <a:prstGeom prst="rect">
            <a:avLst/>
          </a:prstGeom>
          <a:solidFill>
            <a:srgbClr val="FFFFFF"/>
          </a:solidFill>
          <a:ln w="9525">
            <a:solidFill>
              <a:srgbClr val="D5E0E1"/>
            </a:solidFill>
            <a:prstDash val="solid"/>
          </a:ln>
          <a:effectLst>
            <a:outerShdw sx="100000" sy="100000" kx="0" ky="0" algn="bl" rotWithShape="0" blurRad="76200" dist="19050" dir="5400000">
              <a:srgbClr val="000000">
                <a:alpha val="12000"/>
              </a:srgbClr>
            </a:outerShdw>
          </a:effectLst>
        </p:spPr>
      </p:sp>
      <p:pic>
        <p:nvPicPr>
          <p:cNvPr id="10" name="Image 1" descr="Wait distribution with outlier fence">    </p:cNvPr>
          <p:cNvPicPr>
            <a:picLocks noChangeAspect="1"/>
          </p:cNvPicPr>
          <p:nvPr/>
        </p:nvPicPr>
        <p:blipFill>
          <a:blip r:embed="rId2"/>
          <a:stretch>
            <a:fillRect/>
          </a:stretch>
        </p:blipFill>
        <p:spPr>
          <a:xfrm>
            <a:off x="5518739" y="4617720"/>
            <a:ext cx="3318603" cy="1645920"/>
          </a:xfrm>
          <a:prstGeom prst="rect">
            <a:avLst/>
          </a:prstGeom>
        </p:spPr>
      </p:pic>
      <p:sp>
        <p:nvSpPr>
          <p:cNvPr id="11" name="Text 7"/>
          <p:cNvSpPr txBox="1"/>
          <p:nvPr/>
        </p:nvSpPr>
        <p:spPr>
          <a:xfrm>
            <a:off x="9098280" y="4846320"/>
            <a:ext cx="2560320" cy="1097280"/>
          </a:xfrm>
          <a:prstGeom prst="rect">
            <a:avLst/>
          </a:prstGeom>
          <a:noFill/>
          <a:ln/>
        </p:spPr>
        <p:txBody>
          <a:bodyPr wrap="square" lIns="0" tIns="0" rIns="0" bIns="0" rtlCol="0" anchor="t"/>
          <a:lstStyle/>
          <a:p>
            <a:pPr indent="0" marL="0">
              <a:buNone/>
            </a:pPr>
            <a:r>
              <a:rPr lang="en-US" sz="1150" i="1" dirty="0">
                <a:solidFill>
                  <a:srgbClr val="5B6B73"/>
                </a:solidFill>
                <a:latin typeface="Calibri" pitchFamily="34" charset="0"/>
                <a:ea typeface="Calibri" pitchFamily="34" charset="-122"/>
                <a:cs typeface="Calibri" pitchFamily="34" charset="-120"/>
              </a:rPr>
              <a:t>The distribution is right-skewed, so the fence marks the tail rather than errors.</a:t>
            </a:r>
            <a:endParaRPr lang="en-US" sz="1150" dirty="0"/>
          </a:p>
        </p:txBody>
      </p:sp>
      <p:sp>
        <p:nvSpPr>
          <p:cNvPr id="12" name="Text 8"/>
          <p:cNvSpPr txBox="1"/>
          <p:nvPr/>
        </p:nvSpPr>
        <p:spPr>
          <a:xfrm>
            <a:off x="548640" y="6473952"/>
            <a:ext cx="5486400" cy="228600"/>
          </a:xfrm>
          <a:prstGeom prst="rect">
            <a:avLst/>
          </a:prstGeom>
          <a:noFill/>
          <a:ln/>
        </p:spPr>
        <p:txBody>
          <a:bodyPr wrap="square" lIns="0" tIns="0" rIns="0" bIns="0" rtlCol="0" anchor="ctr"/>
          <a:lstStyle/>
          <a:p>
            <a:pPr indent="0" marL="0">
              <a:buNone/>
            </a:pPr>
            <a:r>
              <a:rPr lang="en-US" sz="950" dirty="0">
                <a:solidFill>
                  <a:srgbClr val="5B6B73"/>
                </a:solidFill>
                <a:latin typeface="Calibri" pitchFamily="34" charset="0"/>
                <a:ea typeface="Calibri" pitchFamily="34" charset="-122"/>
                <a:cs typeface="Calibri" pitchFamily="34" charset="-120"/>
              </a:rPr>
              <a:t>Operational &amp; Hospital Workflow Analytics</a:t>
            </a:r>
            <a:endParaRPr lang="en-US" sz="950" dirty="0"/>
          </a:p>
        </p:txBody>
      </p:sp>
      <p:sp>
        <p:nvSpPr>
          <p:cNvPr id="13" name="Text 9"/>
          <p:cNvSpPr txBox="1"/>
          <p:nvPr/>
        </p:nvSpPr>
        <p:spPr>
          <a:xfrm>
            <a:off x="11183112" y="6473952"/>
            <a:ext cx="457200" cy="228600"/>
          </a:xfrm>
          <a:prstGeom prst="rect">
            <a:avLst/>
          </a:prstGeom>
          <a:noFill/>
          <a:ln/>
        </p:spPr>
        <p:txBody>
          <a:bodyPr wrap="square" lIns="0" tIns="0" rIns="0" bIns="0" rtlCol="0" anchor="ctr"/>
          <a:lstStyle/>
          <a:p>
            <a:pPr algn="r" indent="0" marL="0">
              <a:buNone/>
            </a:pPr>
            <a:r>
              <a:rPr lang="en-US" sz="950" dirty="0">
                <a:solidFill>
                  <a:srgbClr val="5B6B73"/>
                </a:solidFill>
                <a:latin typeface="Calibri" pitchFamily="34" charset="0"/>
                <a:ea typeface="Calibri" pitchFamily="34" charset="-122"/>
                <a:cs typeface="Calibri" pitchFamily="34" charset="-120"/>
              </a:rPr>
              <a:t>4</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1F7A7A"/>
                </a:solidFill>
                <a:latin typeface="Calibri" pitchFamily="34" charset="0"/>
                <a:ea typeface="Calibri" pitchFamily="34" charset="-122"/>
                <a:cs typeface="Calibri" pitchFamily="34" charset="-120"/>
              </a:rPr>
              <a:t>T3 · REDUNDANT DATA REMOVAL AND MISSING DATA</a:t>
            </a:r>
            <a:endParaRPr lang="en-US" sz="1100" dirty="0"/>
          </a:p>
        </p:txBody>
      </p:sp>
      <p:sp>
        <p:nvSpPr>
          <p:cNvPr id="3" name="Text 1"/>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3000" b="1" dirty="0">
                <a:solidFill>
                  <a:srgbClr val="0F2A35"/>
                </a:solidFill>
                <a:latin typeface="Cambria" pitchFamily="34" charset="0"/>
                <a:ea typeface="Cambria" pitchFamily="34" charset="-122"/>
                <a:cs typeface="Cambria" pitchFamily="34" charset="-120"/>
              </a:rPr>
              <a:t>Less data, same accuracy; and zeros that were really blanks</a:t>
            </a:r>
            <a:endParaRPr lang="en-US" sz="3000" dirty="0"/>
          </a:p>
        </p:txBody>
      </p:sp>
      <p:sp>
        <p:nvSpPr>
          <p:cNvPr id="4" name="Shape 2"/>
          <p:cNvSpPr/>
          <p:nvPr/>
        </p:nvSpPr>
        <p:spPr>
          <a:xfrm>
            <a:off x="512064" y="1716015"/>
            <a:ext cx="3593592" cy="2191531"/>
          </a:xfrm>
          <a:prstGeom prst="rect">
            <a:avLst/>
          </a:prstGeom>
          <a:solidFill>
            <a:srgbClr val="FFFFFF"/>
          </a:solidFill>
          <a:ln w="9525">
            <a:solidFill>
              <a:srgbClr val="D5E0E1"/>
            </a:solidFill>
            <a:prstDash val="solid"/>
          </a:ln>
          <a:effectLst>
            <a:outerShdw sx="100000" sy="100000" kx="0" ky="0" algn="bl" rotWithShape="0" blurRad="76200" dist="19050" dir="5400000">
              <a:srgbClr val="000000">
                <a:alpha val="12000"/>
              </a:srgbClr>
            </a:outerShdw>
          </a:effectLst>
        </p:spPr>
      </p:sp>
      <p:pic>
        <p:nvPicPr>
          <p:cNvPr id="5" name="Image 0" descr="Columns removed: 87 → 65 at F1">    </p:cNvPr>
          <p:cNvPicPr>
            <a:picLocks noChangeAspect="1"/>
          </p:cNvPicPr>
          <p:nvPr/>
        </p:nvPicPr>
        <p:blipFill>
          <a:blip r:embed="rId1"/>
          <a:stretch>
            <a:fillRect/>
          </a:stretch>
        </p:blipFill>
        <p:spPr>
          <a:xfrm>
            <a:off x="548640" y="1752591"/>
            <a:ext cx="3520440" cy="2118379"/>
          </a:xfrm>
          <a:prstGeom prst="rect">
            <a:avLst/>
          </a:prstGeom>
        </p:spPr>
      </p:pic>
      <p:sp>
        <p:nvSpPr>
          <p:cNvPr id="6" name="Text 3"/>
          <p:cNvSpPr txBox="1"/>
          <p:nvPr/>
        </p:nvSpPr>
        <p:spPr>
          <a:xfrm>
            <a:off x="548640" y="4297680"/>
            <a:ext cx="3520440" cy="274320"/>
          </a:xfrm>
          <a:prstGeom prst="rect">
            <a:avLst/>
          </a:prstGeom>
          <a:noFill/>
          <a:ln/>
        </p:spPr>
        <p:txBody>
          <a:bodyPr wrap="square" lIns="0" tIns="0" rIns="0" bIns="0" rtlCol="0" anchor="ctr"/>
          <a:lstStyle/>
          <a:p>
            <a:pPr indent="0" marL="0">
              <a:buNone/>
            </a:pPr>
            <a:r>
              <a:rPr lang="en-US" sz="1350" b="1" dirty="0">
                <a:solidFill>
                  <a:srgbClr val="0F2A35"/>
                </a:solidFill>
                <a:latin typeface="Calibri" pitchFamily="34" charset="0"/>
                <a:ea typeface="Calibri" pitchFamily="34" charset="-122"/>
                <a:cs typeface="Calibri" pitchFamily="34" charset="-120"/>
              </a:rPr>
              <a:t>Columns removed: 87 → 65 at F1</a:t>
            </a:r>
            <a:endParaRPr lang="en-US" sz="1350" dirty="0"/>
          </a:p>
        </p:txBody>
      </p:sp>
      <p:sp>
        <p:nvSpPr>
          <p:cNvPr id="7" name="Text 4"/>
          <p:cNvSpPr txBox="1"/>
          <p:nvPr/>
        </p:nvSpPr>
        <p:spPr>
          <a:xfrm>
            <a:off x="548640" y="4590288"/>
            <a:ext cx="3520440" cy="868680"/>
          </a:xfrm>
          <a:prstGeom prst="rect">
            <a:avLst/>
          </a:prstGeom>
          <a:noFill/>
          <a:ln/>
        </p:spPr>
        <p:txBody>
          <a:bodyPr wrap="square" lIns="0" tIns="0" rIns="0" bIns="0" rtlCol="0" anchor="t"/>
          <a:lstStyle/>
          <a:p>
            <a:pPr indent="0" marL="0">
              <a:buNone/>
            </a:pPr>
            <a:r>
              <a:rPr lang="en-US" sz="1150" dirty="0">
                <a:solidFill>
                  <a:srgbClr val="5B6B73"/>
                </a:solidFill>
                <a:latin typeface="Calibri" pitchFamily="34" charset="0"/>
                <a:ea typeface="Calibri" pitchFamily="34" charset="-122"/>
                <a:cs typeface="Calibri" pitchFamily="34" charset="-120"/>
              </a:rPr>
              <a:t>Constant columns, copies (start_hour squared, cubed...) and clusters with |r| ≥ 0.95. Accuracy on a time-based hold-out moved by under 0.3 min.</a:t>
            </a:r>
            <a:endParaRPr lang="en-US" sz="1150" dirty="0"/>
          </a:p>
        </p:txBody>
      </p:sp>
      <p:sp>
        <p:nvSpPr>
          <p:cNvPr id="8" name="Shape 5"/>
          <p:cNvSpPr/>
          <p:nvPr/>
        </p:nvSpPr>
        <p:spPr>
          <a:xfrm>
            <a:off x="4755010" y="1426464"/>
            <a:ext cx="2660643" cy="2770632"/>
          </a:xfrm>
          <a:prstGeom prst="rect">
            <a:avLst/>
          </a:prstGeom>
          <a:solidFill>
            <a:srgbClr val="FFFFFF"/>
          </a:solidFill>
          <a:ln w="9525">
            <a:solidFill>
              <a:srgbClr val="D5E0E1"/>
            </a:solidFill>
            <a:prstDash val="solid"/>
          </a:ln>
          <a:effectLst>
            <a:outerShdw sx="100000" sy="100000" kx="0" ky="0" algn="bl" rotWithShape="0" blurRad="76200" dist="19050" dir="5400000">
              <a:srgbClr val="000000">
                <a:alpha val="12000"/>
              </a:srgbClr>
            </a:outerShdw>
          </a:effectLst>
        </p:spPr>
      </p:sp>
      <p:pic>
        <p:nvPicPr>
          <p:cNvPr id="9" name="Image 1" descr="Correlation structure">    </p:cNvPr>
          <p:cNvPicPr>
            <a:picLocks noChangeAspect="1"/>
          </p:cNvPicPr>
          <p:nvPr/>
        </p:nvPicPr>
        <p:blipFill>
          <a:blip r:embed="rId2"/>
          <a:stretch>
            <a:fillRect/>
          </a:stretch>
        </p:blipFill>
        <p:spPr>
          <a:xfrm>
            <a:off x="4791586" y="1463040"/>
            <a:ext cx="2587491" cy="2697480"/>
          </a:xfrm>
          <a:prstGeom prst="rect">
            <a:avLst/>
          </a:prstGeom>
        </p:spPr>
      </p:pic>
      <p:sp>
        <p:nvSpPr>
          <p:cNvPr id="10" name="Text 6"/>
          <p:cNvSpPr txBox="1"/>
          <p:nvPr/>
        </p:nvSpPr>
        <p:spPr>
          <a:xfrm>
            <a:off x="4325112" y="4297680"/>
            <a:ext cx="3520440" cy="274320"/>
          </a:xfrm>
          <a:prstGeom prst="rect">
            <a:avLst/>
          </a:prstGeom>
          <a:noFill/>
          <a:ln/>
        </p:spPr>
        <p:txBody>
          <a:bodyPr wrap="square" lIns="0" tIns="0" rIns="0" bIns="0" rtlCol="0" anchor="ctr"/>
          <a:lstStyle/>
          <a:p>
            <a:pPr indent="0" marL="0">
              <a:buNone/>
            </a:pPr>
            <a:r>
              <a:rPr lang="en-US" sz="1350" b="1" dirty="0">
                <a:solidFill>
                  <a:srgbClr val="0F2A35"/>
                </a:solidFill>
                <a:latin typeface="Calibri" pitchFamily="34" charset="0"/>
                <a:ea typeface="Calibri" pitchFamily="34" charset="-122"/>
                <a:cs typeface="Calibri" pitchFamily="34" charset="-120"/>
              </a:rPr>
              <a:t>Correlation structure</a:t>
            </a:r>
            <a:endParaRPr lang="en-US" sz="1350" dirty="0"/>
          </a:p>
        </p:txBody>
      </p:sp>
      <p:sp>
        <p:nvSpPr>
          <p:cNvPr id="11" name="Text 7"/>
          <p:cNvSpPr txBox="1"/>
          <p:nvPr/>
        </p:nvSpPr>
        <p:spPr>
          <a:xfrm>
            <a:off x="4325112" y="4590288"/>
            <a:ext cx="3520440" cy="868680"/>
          </a:xfrm>
          <a:prstGeom prst="rect">
            <a:avLst/>
          </a:prstGeom>
          <a:noFill/>
          <a:ln/>
        </p:spPr>
        <p:txBody>
          <a:bodyPr wrap="square" lIns="0" tIns="0" rIns="0" bIns="0" rtlCol="0" anchor="t"/>
          <a:lstStyle/>
          <a:p>
            <a:pPr indent="0" marL="0">
              <a:buNone/>
            </a:pPr>
            <a:r>
              <a:rPr lang="en-US" sz="1150" dirty="0">
                <a:solidFill>
                  <a:srgbClr val="5B6B73"/>
                </a:solidFill>
                <a:latin typeface="Calibri" pitchFamily="34" charset="0"/>
                <a:ea typeface="Calibri" pitchFamily="34" charset="-122"/>
                <a:cs typeface="Calibri" pitchFamily="34" charset="-120"/>
              </a:rPr>
              <a:t>Blocks of near-identical features. One representative is kept per block, and every decision is written to a CSV.</a:t>
            </a:r>
            <a:endParaRPr lang="en-US" sz="1150" dirty="0"/>
          </a:p>
        </p:txBody>
      </p:sp>
      <p:sp>
        <p:nvSpPr>
          <p:cNvPr id="12" name="Shape 8"/>
          <p:cNvSpPr/>
          <p:nvPr/>
        </p:nvSpPr>
        <p:spPr>
          <a:xfrm>
            <a:off x="8065008" y="1451763"/>
            <a:ext cx="3593592" cy="2720034"/>
          </a:xfrm>
          <a:prstGeom prst="rect">
            <a:avLst/>
          </a:prstGeom>
          <a:solidFill>
            <a:srgbClr val="FFFFFF"/>
          </a:solidFill>
          <a:ln w="9525">
            <a:solidFill>
              <a:srgbClr val="D5E0E1"/>
            </a:solidFill>
            <a:prstDash val="solid"/>
          </a:ln>
          <a:effectLst>
            <a:outerShdw sx="100000" sy="100000" kx="0" ky="0" algn="bl" rotWithShape="0" blurRad="76200" dist="19050" dir="5400000">
              <a:srgbClr val="000000">
                <a:alpha val="12000"/>
              </a:srgbClr>
            </a:outerShdw>
          </a:effectLst>
        </p:spPr>
      </p:sp>
      <p:pic>
        <p:nvPicPr>
          <p:cNvPr id="13" name="Image 2" descr="Choosing an imputer">    </p:cNvPr>
          <p:cNvPicPr>
            <a:picLocks noChangeAspect="1"/>
          </p:cNvPicPr>
          <p:nvPr/>
        </p:nvPicPr>
        <p:blipFill>
          <a:blip r:embed="rId3"/>
          <a:stretch>
            <a:fillRect/>
          </a:stretch>
        </p:blipFill>
        <p:spPr>
          <a:xfrm>
            <a:off x="8101584" y="1488339"/>
            <a:ext cx="3520440" cy="2646882"/>
          </a:xfrm>
          <a:prstGeom prst="rect">
            <a:avLst/>
          </a:prstGeom>
        </p:spPr>
      </p:pic>
      <p:sp>
        <p:nvSpPr>
          <p:cNvPr id="14" name="Text 9"/>
          <p:cNvSpPr txBox="1"/>
          <p:nvPr/>
        </p:nvSpPr>
        <p:spPr>
          <a:xfrm>
            <a:off x="8101584" y="4297680"/>
            <a:ext cx="3520440" cy="274320"/>
          </a:xfrm>
          <a:prstGeom prst="rect">
            <a:avLst/>
          </a:prstGeom>
          <a:noFill/>
          <a:ln/>
        </p:spPr>
        <p:txBody>
          <a:bodyPr wrap="square" lIns="0" tIns="0" rIns="0" bIns="0" rtlCol="0" anchor="ctr"/>
          <a:lstStyle/>
          <a:p>
            <a:pPr indent="0" marL="0">
              <a:buNone/>
            </a:pPr>
            <a:r>
              <a:rPr lang="en-US" sz="1350" b="1" dirty="0">
                <a:solidFill>
                  <a:srgbClr val="0F2A35"/>
                </a:solidFill>
                <a:latin typeface="Calibri" pitchFamily="34" charset="0"/>
                <a:ea typeface="Calibri" pitchFamily="34" charset="-122"/>
                <a:cs typeface="Calibri" pitchFamily="34" charset="-120"/>
              </a:rPr>
              <a:t>Choosing an imputer</a:t>
            </a:r>
            <a:endParaRPr lang="en-US" sz="1350" dirty="0"/>
          </a:p>
        </p:txBody>
      </p:sp>
      <p:sp>
        <p:nvSpPr>
          <p:cNvPr id="15" name="Text 10"/>
          <p:cNvSpPr txBox="1"/>
          <p:nvPr/>
        </p:nvSpPr>
        <p:spPr>
          <a:xfrm>
            <a:off x="8101584" y="4590288"/>
            <a:ext cx="3520440" cy="868680"/>
          </a:xfrm>
          <a:prstGeom prst="rect">
            <a:avLst/>
          </a:prstGeom>
          <a:noFill/>
          <a:ln/>
        </p:spPr>
        <p:txBody>
          <a:bodyPr wrap="square" lIns="0" tIns="0" rIns="0" bIns="0" rtlCol="0" anchor="t"/>
          <a:lstStyle/>
          <a:p>
            <a:pPr indent="0" marL="0">
              <a:buNone/>
            </a:pPr>
            <a:r>
              <a:rPr lang="en-US" sz="1150" dirty="0">
                <a:solidFill>
                  <a:srgbClr val="5B6B73"/>
                </a:solidFill>
                <a:latin typeface="Calibri" pitchFamily="34" charset="0"/>
                <a:ea typeface="Calibri" pitchFamily="34" charset="-122"/>
                <a:cs typeface="Calibri" pitchFamily="34" charset="-120"/>
              </a:rPr>
              <a:t>We hid known values, imputed them and measured the error. Interpolation wins, but it peeks at the next row, so it is offline only.</a:t>
            </a:r>
            <a:endParaRPr lang="en-US" sz="1150" dirty="0"/>
          </a:p>
        </p:txBody>
      </p:sp>
      <p:sp>
        <p:nvSpPr>
          <p:cNvPr id="16" name="Shape 11"/>
          <p:cNvSpPr/>
          <p:nvPr/>
        </p:nvSpPr>
        <p:spPr>
          <a:xfrm>
            <a:off x="548640" y="5532120"/>
            <a:ext cx="11064240" cy="777240"/>
          </a:xfrm>
          <a:prstGeom prst="roundRect">
            <a:avLst>
              <a:gd name="adj" fmla="val 9412"/>
            </a:avLst>
          </a:prstGeom>
          <a:solidFill>
            <a:srgbClr val="EEF3F3"/>
          </a:solidFill>
          <a:ln w="9525">
            <a:solidFill>
              <a:srgbClr val="D5E0E1"/>
            </a:solidFill>
            <a:prstDash val="solid"/>
          </a:ln>
        </p:spPr>
      </p:sp>
      <p:sp>
        <p:nvSpPr>
          <p:cNvPr id="17" name="Text 12"/>
          <p:cNvSpPr txBox="1"/>
          <p:nvPr/>
        </p:nvSpPr>
        <p:spPr>
          <a:xfrm>
            <a:off x="777240" y="5532120"/>
            <a:ext cx="10607040" cy="77724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196,967 hidden gaps. </a:t>
            </a:r>
            <a:pPr indent="0" marL="0">
              <a:buNone/>
            </a:pPr>
            <a:r>
              <a:rPr lang="en-US" sz="1300" dirty="0">
                <a:solidFill>
                  <a:srgbClr val="0F2A35"/>
                </a:solidFill>
                <a:latin typeface="Calibri" pitchFamily="34" charset="0"/>
                <a:ea typeface="Calibri" pitchFamily="34" charset="-122"/>
                <a:cs typeface="Calibri" pitchFamily="34" charset="-120"/>
              </a:rPr>
              <a:t>The file has only 96 blank cells, but averages of an empty queue are stored as 0 (average age of waiting patients is exactly 0 whenever nobody is waiting). A rule search found them and they are now blank.</a:t>
            </a:r>
            <a:endParaRPr lang="en-US" sz="1300" dirty="0"/>
          </a:p>
        </p:txBody>
      </p:sp>
      <p:sp>
        <p:nvSpPr>
          <p:cNvPr id="18" name="Text 13"/>
          <p:cNvSpPr txBox="1"/>
          <p:nvPr/>
        </p:nvSpPr>
        <p:spPr>
          <a:xfrm>
            <a:off x="548640" y="6473952"/>
            <a:ext cx="5486400" cy="228600"/>
          </a:xfrm>
          <a:prstGeom prst="rect">
            <a:avLst/>
          </a:prstGeom>
          <a:noFill/>
          <a:ln/>
        </p:spPr>
        <p:txBody>
          <a:bodyPr wrap="square" lIns="0" tIns="0" rIns="0" bIns="0" rtlCol="0" anchor="ctr"/>
          <a:lstStyle/>
          <a:p>
            <a:pPr indent="0" marL="0">
              <a:buNone/>
            </a:pPr>
            <a:r>
              <a:rPr lang="en-US" sz="950" dirty="0">
                <a:solidFill>
                  <a:srgbClr val="5B6B73"/>
                </a:solidFill>
                <a:latin typeface="Calibri" pitchFamily="34" charset="0"/>
                <a:ea typeface="Calibri" pitchFamily="34" charset="-122"/>
                <a:cs typeface="Calibri" pitchFamily="34" charset="-120"/>
              </a:rPr>
              <a:t>Operational &amp; Hospital Workflow Analytics</a:t>
            </a:r>
            <a:endParaRPr lang="en-US" sz="950" dirty="0"/>
          </a:p>
        </p:txBody>
      </p:sp>
      <p:sp>
        <p:nvSpPr>
          <p:cNvPr id="19" name="Text 14"/>
          <p:cNvSpPr txBox="1"/>
          <p:nvPr/>
        </p:nvSpPr>
        <p:spPr>
          <a:xfrm>
            <a:off x="11183112" y="6473952"/>
            <a:ext cx="457200" cy="228600"/>
          </a:xfrm>
          <a:prstGeom prst="rect">
            <a:avLst/>
          </a:prstGeom>
          <a:noFill/>
          <a:ln/>
        </p:spPr>
        <p:txBody>
          <a:bodyPr wrap="square" lIns="0" tIns="0" rIns="0" bIns="0" rtlCol="0" anchor="ctr"/>
          <a:lstStyle/>
          <a:p>
            <a:pPr algn="r" indent="0" marL="0">
              <a:buNone/>
            </a:pPr>
            <a:r>
              <a:rPr lang="en-US" sz="950" dirty="0">
                <a:solidFill>
                  <a:srgbClr val="5B6B73"/>
                </a:solidFill>
                <a:latin typeface="Calibri" pitchFamily="34" charset="0"/>
                <a:ea typeface="Calibri" pitchFamily="34" charset="-122"/>
                <a:cs typeface="Calibri" pitchFamily="34" charset="-120"/>
              </a:rPr>
              <a:t>5</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1F7A7A"/>
                </a:solidFill>
                <a:latin typeface="Calibri" pitchFamily="34" charset="0"/>
                <a:ea typeface="Calibri" pitchFamily="34" charset="-122"/>
                <a:cs typeface="Calibri" pitchFamily="34" charset="-120"/>
              </a:rPr>
              <a:t>T4 · BIOMEDICAL IMAGE PROCESSING</a:t>
            </a:r>
            <a:endParaRPr lang="en-US" sz="1100" dirty="0"/>
          </a:p>
        </p:txBody>
      </p:sp>
      <p:sp>
        <p:nvSpPr>
          <p:cNvPr id="3" name="Text 1"/>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3000" b="1" dirty="0">
                <a:solidFill>
                  <a:srgbClr val="0F2A35"/>
                </a:solidFill>
                <a:latin typeface="Cambria" pitchFamily="34" charset="0"/>
                <a:ea typeface="Cambria" pitchFamily="34" charset="-122"/>
                <a:cs typeface="Cambria" pitchFamily="34" charset="-120"/>
              </a:rPr>
              <a:t>Four jobs, each scored against ground truth</a:t>
            </a:r>
            <a:endParaRPr lang="en-US" sz="3000" dirty="0"/>
          </a:p>
        </p:txBody>
      </p:sp>
      <p:sp>
        <p:nvSpPr>
          <p:cNvPr id="4" name="Text 2"/>
          <p:cNvSpPr txBox="1"/>
          <p:nvPr/>
        </p:nvSpPr>
        <p:spPr>
          <a:xfrm>
            <a:off x="548640" y="1417320"/>
            <a:ext cx="3840480" cy="1188720"/>
          </a:xfrm>
          <a:prstGeom prst="rect">
            <a:avLst/>
          </a:prstGeom>
          <a:noFill/>
          <a:ln/>
        </p:spPr>
        <p:txBody>
          <a:bodyPr wrap="square" lIns="0" tIns="0" rIns="0" bIns="0" rtlCol="0" anchor="t"/>
          <a:lstStyle/>
          <a:p>
            <a:pPr indent="0" marL="0">
              <a:buNone/>
            </a:pPr>
            <a:r>
              <a:rPr lang="en-US" sz="1300" dirty="0">
                <a:solidFill>
                  <a:srgbClr val="0F2A35"/>
                </a:solidFill>
                <a:latin typeface="Calibri" pitchFamily="34" charset="0"/>
                <a:ea typeface="Calibri" pitchFamily="34" charset="-122"/>
                <a:cs typeface="Calibri" pitchFamily="34" charset="-120"/>
              </a:rPr>
              <a:t>The workbook has no images, so we generated a chest-CT phantom whose nodules and lungs are known exactly. Every method below is scored, not judged by eye.</a:t>
            </a:r>
            <a:endParaRPr lang="en-US" sz="1300" dirty="0"/>
          </a:p>
        </p:txBody>
      </p:sp>
      <p:sp>
        <p:nvSpPr>
          <p:cNvPr id="5" name="Shape 3"/>
          <p:cNvSpPr/>
          <p:nvPr/>
        </p:nvSpPr>
        <p:spPr>
          <a:xfrm>
            <a:off x="548640" y="2770632"/>
            <a:ext cx="329184" cy="329184"/>
          </a:xfrm>
          <a:prstGeom prst="ellipse">
            <a:avLst/>
          </a:prstGeom>
          <a:solidFill>
            <a:srgbClr val="1F7A7A"/>
          </a:solidFill>
          <a:ln w="12700">
            <a:solidFill>
              <a:srgbClr val="1F7A7A"/>
            </a:solidFill>
            <a:prstDash val="solid"/>
          </a:ln>
        </p:spPr>
      </p:sp>
      <p:sp>
        <p:nvSpPr>
          <p:cNvPr id="6" name="Text 4"/>
          <p:cNvSpPr txBox="1"/>
          <p:nvPr/>
        </p:nvSpPr>
        <p:spPr>
          <a:xfrm>
            <a:off x="548640" y="277063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005840" y="2743200"/>
            <a:ext cx="3429000" cy="822960"/>
          </a:xfrm>
          <a:prstGeom prst="rect">
            <a:avLst/>
          </a:prstGeom>
          <a:noFill/>
          <a:ln/>
        </p:spPr>
        <p:txBody>
          <a:bodyPr wrap="square" lIns="0" tIns="0" rIns="0" bIns="0" rtlCol="0" anchor="t"/>
          <a:lstStyle/>
          <a:p>
            <a:pPr indent="0" marL="0">
              <a:buNone/>
            </a:pPr>
            <a:r>
              <a:rPr lang="en-US" sz="1200" b="1" dirty="0">
                <a:solidFill>
                  <a:srgbClr val="1F7A7A"/>
                </a:solidFill>
                <a:latin typeface="Calibri" pitchFamily="34" charset="0"/>
                <a:ea typeface="Calibri" pitchFamily="34" charset="-122"/>
                <a:cs typeface="Calibri" pitchFamily="34" charset="-120"/>
              </a:rPr>
              <a:t>Enhance. </a:t>
            </a:r>
            <a:pPr indent="0" marL="0">
              <a:buNone/>
            </a:pPr>
            <a:r>
              <a:rPr lang="en-US" sz="1200" dirty="0">
                <a:solidFill>
                  <a:srgbClr val="0F2A35"/>
                </a:solidFill>
                <a:latin typeface="Calibri" pitchFamily="34" charset="0"/>
                <a:ea typeface="Calibri" pitchFamily="34" charset="-122"/>
                <a:cs typeface="Calibri" pitchFamily="34" charset="-120"/>
              </a:rPr>
              <a:t>CT windows raise contrast for the tissue you care about; equalisation and CLAHE mostly amplify noise.</a:t>
            </a:r>
            <a:endParaRPr lang="en-US" sz="1200" dirty="0"/>
          </a:p>
        </p:txBody>
      </p:sp>
      <p:sp>
        <p:nvSpPr>
          <p:cNvPr id="8" name="Shape 6"/>
          <p:cNvSpPr/>
          <p:nvPr/>
        </p:nvSpPr>
        <p:spPr>
          <a:xfrm>
            <a:off x="548640" y="3666744"/>
            <a:ext cx="329184" cy="329184"/>
          </a:xfrm>
          <a:prstGeom prst="ellipse">
            <a:avLst/>
          </a:prstGeom>
          <a:solidFill>
            <a:srgbClr val="1F7A7A"/>
          </a:solidFill>
          <a:ln w="12700">
            <a:solidFill>
              <a:srgbClr val="1F7A7A"/>
            </a:solidFill>
            <a:prstDash val="solid"/>
          </a:ln>
        </p:spPr>
      </p:sp>
      <p:sp>
        <p:nvSpPr>
          <p:cNvPr id="9" name="Text 7"/>
          <p:cNvSpPr txBox="1"/>
          <p:nvPr/>
        </p:nvSpPr>
        <p:spPr>
          <a:xfrm>
            <a:off x="548640" y="366674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txBox="1"/>
          <p:nvPr/>
        </p:nvSpPr>
        <p:spPr>
          <a:xfrm>
            <a:off x="1005840" y="3639312"/>
            <a:ext cx="3429000" cy="822960"/>
          </a:xfrm>
          <a:prstGeom prst="rect">
            <a:avLst/>
          </a:prstGeom>
          <a:noFill/>
          <a:ln/>
        </p:spPr>
        <p:txBody>
          <a:bodyPr wrap="square" lIns="0" tIns="0" rIns="0" bIns="0" rtlCol="0" anchor="t"/>
          <a:lstStyle/>
          <a:p>
            <a:pPr indent="0" marL="0">
              <a:buNone/>
            </a:pPr>
            <a:r>
              <a:rPr lang="en-US" sz="1200" b="1" dirty="0">
                <a:solidFill>
                  <a:srgbClr val="1F7A7A"/>
                </a:solidFill>
                <a:latin typeface="Calibri" pitchFamily="34" charset="0"/>
                <a:ea typeface="Calibri" pitchFamily="34" charset="-122"/>
                <a:cs typeface="Calibri" pitchFamily="34" charset="-120"/>
              </a:rPr>
              <a:t>Restore. </a:t>
            </a:r>
            <a:pPr indent="0" marL="0">
              <a:buNone/>
            </a:pPr>
            <a:r>
              <a:rPr lang="en-US" sz="1200" dirty="0">
                <a:solidFill>
                  <a:srgbClr val="0F2A35"/>
                </a:solidFill>
                <a:latin typeface="Calibri" pitchFamily="34" charset="0"/>
                <a:ea typeface="Calibri" pitchFamily="34" charset="-122"/>
                <a:cs typeface="Calibri" pitchFamily="34" charset="-120"/>
              </a:rPr>
              <a:t>Non-local means lifted PSNR from 28.6 to 36.1 dB; plain Gaussian blur only reached 31.4.</a:t>
            </a:r>
            <a:endParaRPr lang="en-US" sz="1200" dirty="0"/>
          </a:p>
        </p:txBody>
      </p:sp>
      <p:sp>
        <p:nvSpPr>
          <p:cNvPr id="11" name="Shape 9"/>
          <p:cNvSpPr/>
          <p:nvPr/>
        </p:nvSpPr>
        <p:spPr>
          <a:xfrm>
            <a:off x="548640" y="4562856"/>
            <a:ext cx="329184" cy="329184"/>
          </a:xfrm>
          <a:prstGeom prst="ellipse">
            <a:avLst/>
          </a:prstGeom>
          <a:solidFill>
            <a:srgbClr val="1F7A7A"/>
          </a:solidFill>
          <a:ln w="12700">
            <a:solidFill>
              <a:srgbClr val="1F7A7A"/>
            </a:solidFill>
            <a:prstDash val="solid"/>
          </a:ln>
        </p:spPr>
      </p:sp>
      <p:sp>
        <p:nvSpPr>
          <p:cNvPr id="12" name="Text 10"/>
          <p:cNvSpPr txBox="1"/>
          <p:nvPr/>
        </p:nvSpPr>
        <p:spPr>
          <a:xfrm>
            <a:off x="548640" y="456285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3" name="Text 11"/>
          <p:cNvSpPr txBox="1"/>
          <p:nvPr/>
        </p:nvSpPr>
        <p:spPr>
          <a:xfrm>
            <a:off x="1005840" y="4535424"/>
            <a:ext cx="3429000" cy="822960"/>
          </a:xfrm>
          <a:prstGeom prst="rect">
            <a:avLst/>
          </a:prstGeom>
          <a:noFill/>
          <a:ln/>
        </p:spPr>
        <p:txBody>
          <a:bodyPr wrap="square" lIns="0" tIns="0" rIns="0" bIns="0" rtlCol="0" anchor="t"/>
          <a:lstStyle/>
          <a:p>
            <a:pPr indent="0" marL="0">
              <a:buNone/>
            </a:pPr>
            <a:r>
              <a:rPr lang="en-US" sz="1200" b="1" dirty="0">
                <a:solidFill>
                  <a:srgbClr val="1F7A7A"/>
                </a:solidFill>
                <a:latin typeface="Calibri" pitchFamily="34" charset="0"/>
                <a:ea typeface="Calibri" pitchFamily="34" charset="-122"/>
                <a:cs typeface="Calibri" pitchFamily="34" charset="-120"/>
              </a:rPr>
              <a:t>Segment. </a:t>
            </a:r>
            <a:pPr indent="0" marL="0">
              <a:buNone/>
            </a:pPr>
            <a:r>
              <a:rPr lang="en-US" sz="1200" dirty="0">
                <a:solidFill>
                  <a:srgbClr val="0F2A35"/>
                </a:solidFill>
                <a:latin typeface="Calibri" pitchFamily="34" charset="0"/>
                <a:ea typeface="Calibri" pitchFamily="34" charset="-122"/>
                <a:cs typeface="Calibri" pitchFamily="34" charset="-120"/>
              </a:rPr>
              <a:t>Lung outline Dice 0.99 with threshold + morphology, but vessels fool a brightness rule.</a:t>
            </a:r>
            <a:endParaRPr lang="en-US" sz="1200" dirty="0"/>
          </a:p>
        </p:txBody>
      </p:sp>
      <p:sp>
        <p:nvSpPr>
          <p:cNvPr id="14" name="Shape 12"/>
          <p:cNvSpPr/>
          <p:nvPr/>
        </p:nvSpPr>
        <p:spPr>
          <a:xfrm>
            <a:off x="548640" y="5458968"/>
            <a:ext cx="329184" cy="329184"/>
          </a:xfrm>
          <a:prstGeom prst="ellipse">
            <a:avLst/>
          </a:prstGeom>
          <a:solidFill>
            <a:srgbClr val="1F7A7A"/>
          </a:solidFill>
          <a:ln w="12700">
            <a:solidFill>
              <a:srgbClr val="1F7A7A"/>
            </a:solidFill>
            <a:prstDash val="solid"/>
          </a:ln>
        </p:spPr>
      </p:sp>
      <p:sp>
        <p:nvSpPr>
          <p:cNvPr id="15" name="Text 13"/>
          <p:cNvSpPr txBox="1"/>
          <p:nvPr/>
        </p:nvSpPr>
        <p:spPr>
          <a:xfrm>
            <a:off x="548640" y="545896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6" name="Text 14"/>
          <p:cNvSpPr txBox="1"/>
          <p:nvPr/>
        </p:nvSpPr>
        <p:spPr>
          <a:xfrm>
            <a:off x="1005840" y="5431536"/>
            <a:ext cx="3429000" cy="822960"/>
          </a:xfrm>
          <a:prstGeom prst="rect">
            <a:avLst/>
          </a:prstGeom>
          <a:noFill/>
          <a:ln/>
        </p:spPr>
        <p:txBody>
          <a:bodyPr wrap="square" lIns="0" tIns="0" rIns="0" bIns="0" rtlCol="0" anchor="t"/>
          <a:lstStyle/>
          <a:p>
            <a:pPr indent="0" marL="0">
              <a:buNone/>
            </a:pPr>
            <a:r>
              <a:rPr lang="en-US" sz="1200" b="1" dirty="0">
                <a:solidFill>
                  <a:srgbClr val="1F7A7A"/>
                </a:solidFill>
                <a:latin typeface="Calibri" pitchFamily="34" charset="0"/>
                <a:ea typeface="Calibri" pitchFamily="34" charset="-122"/>
                <a:cs typeface="Calibri" pitchFamily="34" charset="-120"/>
              </a:rPr>
              <a:t>Compress. </a:t>
            </a:r>
            <a:pPr indent="0" marL="0">
              <a:buNone/>
            </a:pPr>
            <a:r>
              <a:rPr lang="en-US" sz="1200" dirty="0">
                <a:solidFill>
                  <a:srgbClr val="0F2A35"/>
                </a:solidFill>
                <a:latin typeface="Calibri" pitchFamily="34" charset="0"/>
                <a:ea typeface="Calibri" pitchFamily="34" charset="-122"/>
                <a:cs typeface="Calibri" pitchFamily="34" charset="-120"/>
              </a:rPr>
              <a:t>Lossless gets ~2x on noisy slices vs ~14x without noise; JPEG blocks, JPEG 2000 blurs.</a:t>
            </a:r>
            <a:endParaRPr lang="en-US" sz="1200" dirty="0"/>
          </a:p>
        </p:txBody>
      </p:sp>
      <p:sp>
        <p:nvSpPr>
          <p:cNvPr id="17" name="Shape 15"/>
          <p:cNvSpPr/>
          <p:nvPr/>
        </p:nvSpPr>
        <p:spPr>
          <a:xfrm>
            <a:off x="5158011" y="1426464"/>
            <a:ext cx="2668458" cy="2084832"/>
          </a:xfrm>
          <a:prstGeom prst="rect">
            <a:avLst/>
          </a:prstGeom>
          <a:solidFill>
            <a:srgbClr val="FFFFFF"/>
          </a:solidFill>
          <a:ln w="9525">
            <a:solidFill>
              <a:srgbClr val="D5E0E1"/>
            </a:solidFill>
            <a:prstDash val="solid"/>
          </a:ln>
          <a:effectLst>
            <a:outerShdw sx="100000" sy="100000" kx="0" ky="0" algn="bl" rotWithShape="0" blurRad="76200" dist="19050" dir="5400000">
              <a:srgbClr val="000000">
                <a:alpha val="12000"/>
              </a:srgbClr>
            </a:outerShdw>
          </a:effectLst>
        </p:spPr>
      </p:sp>
      <p:pic>
        <p:nvPicPr>
          <p:cNvPr id="18" name="Image 0" descr="Enhancement variants">    </p:cNvPr>
          <p:cNvPicPr>
            <a:picLocks noChangeAspect="1"/>
          </p:cNvPicPr>
          <p:nvPr/>
        </p:nvPicPr>
        <p:blipFill>
          <a:blip r:embed="rId1"/>
          <a:stretch>
            <a:fillRect/>
          </a:stretch>
        </p:blipFill>
        <p:spPr>
          <a:xfrm>
            <a:off x="5194587" y="1463040"/>
            <a:ext cx="2595306" cy="2011680"/>
          </a:xfrm>
          <a:prstGeom prst="rect">
            <a:avLst/>
          </a:prstGeom>
        </p:spPr>
      </p:pic>
      <p:sp>
        <p:nvSpPr>
          <p:cNvPr id="19" name="Text 16"/>
          <p:cNvSpPr txBox="1"/>
          <p:nvPr/>
        </p:nvSpPr>
        <p:spPr>
          <a:xfrm>
            <a:off x="4800600" y="3547872"/>
            <a:ext cx="3383280" cy="274320"/>
          </a:xfrm>
          <a:prstGeom prst="rect">
            <a:avLst/>
          </a:prstGeom>
          <a:noFill/>
          <a:ln/>
        </p:spPr>
        <p:txBody>
          <a:bodyPr wrap="square" lIns="0" tIns="0" rIns="0" bIns="0" rtlCol="0" anchor="t"/>
          <a:lstStyle/>
          <a:p>
            <a:pPr indent="0" marL="0">
              <a:buNone/>
            </a:pPr>
            <a:r>
              <a:rPr lang="en-US" sz="1100" i="1" dirty="0">
                <a:solidFill>
                  <a:srgbClr val="5B6B73"/>
                </a:solidFill>
                <a:latin typeface="Calibri" pitchFamily="34" charset="0"/>
                <a:ea typeface="Calibri" pitchFamily="34" charset="-122"/>
                <a:cs typeface="Calibri" pitchFamily="34" charset="-120"/>
              </a:rPr>
              <a:t>Enhancement variants</a:t>
            </a:r>
            <a:endParaRPr lang="en-US" sz="1100" dirty="0"/>
          </a:p>
        </p:txBody>
      </p:sp>
      <p:sp>
        <p:nvSpPr>
          <p:cNvPr id="20" name="Shape 17"/>
          <p:cNvSpPr/>
          <p:nvPr/>
        </p:nvSpPr>
        <p:spPr>
          <a:xfrm>
            <a:off x="8284464" y="1647349"/>
            <a:ext cx="3456432" cy="1643061"/>
          </a:xfrm>
          <a:prstGeom prst="rect">
            <a:avLst/>
          </a:prstGeom>
          <a:solidFill>
            <a:srgbClr val="FFFFFF"/>
          </a:solidFill>
          <a:ln w="9525">
            <a:solidFill>
              <a:srgbClr val="D5E0E1"/>
            </a:solidFill>
            <a:prstDash val="solid"/>
          </a:ln>
          <a:effectLst>
            <a:outerShdw sx="100000" sy="100000" kx="0" ky="0" algn="bl" rotWithShape="0" blurRad="76200" dist="19050" dir="5400000">
              <a:srgbClr val="000000">
                <a:alpha val="12000"/>
              </a:srgbClr>
            </a:outerShdw>
          </a:effectLst>
        </p:spPr>
      </p:sp>
      <p:pic>
        <p:nvPicPr>
          <p:cNvPr id="21" name="Image 1" descr="Denoising quality (PSNR)">    </p:cNvPr>
          <p:cNvPicPr>
            <a:picLocks noChangeAspect="1"/>
          </p:cNvPicPr>
          <p:nvPr/>
        </p:nvPicPr>
        <p:blipFill>
          <a:blip r:embed="rId2"/>
          <a:stretch>
            <a:fillRect/>
          </a:stretch>
        </p:blipFill>
        <p:spPr>
          <a:xfrm>
            <a:off x="8321040" y="1683925"/>
            <a:ext cx="3383280" cy="1569909"/>
          </a:xfrm>
          <a:prstGeom prst="rect">
            <a:avLst/>
          </a:prstGeom>
        </p:spPr>
      </p:pic>
      <p:sp>
        <p:nvSpPr>
          <p:cNvPr id="22" name="Text 18"/>
          <p:cNvSpPr txBox="1"/>
          <p:nvPr/>
        </p:nvSpPr>
        <p:spPr>
          <a:xfrm>
            <a:off x="8321040" y="3547872"/>
            <a:ext cx="3383280" cy="274320"/>
          </a:xfrm>
          <a:prstGeom prst="rect">
            <a:avLst/>
          </a:prstGeom>
          <a:noFill/>
          <a:ln/>
        </p:spPr>
        <p:txBody>
          <a:bodyPr wrap="square" lIns="0" tIns="0" rIns="0" bIns="0" rtlCol="0" anchor="t"/>
          <a:lstStyle/>
          <a:p>
            <a:pPr indent="0" marL="0">
              <a:buNone/>
            </a:pPr>
            <a:r>
              <a:rPr lang="en-US" sz="1100" i="1" dirty="0">
                <a:solidFill>
                  <a:srgbClr val="5B6B73"/>
                </a:solidFill>
                <a:latin typeface="Calibri" pitchFamily="34" charset="0"/>
                <a:ea typeface="Calibri" pitchFamily="34" charset="-122"/>
                <a:cs typeface="Calibri" pitchFamily="34" charset="-120"/>
              </a:rPr>
              <a:t>Denoising quality (PSNR)</a:t>
            </a:r>
            <a:endParaRPr lang="en-US" sz="1100" dirty="0"/>
          </a:p>
        </p:txBody>
      </p:sp>
      <p:sp>
        <p:nvSpPr>
          <p:cNvPr id="23" name="Shape 19"/>
          <p:cNvSpPr/>
          <p:nvPr/>
        </p:nvSpPr>
        <p:spPr>
          <a:xfrm>
            <a:off x="5151827" y="3941064"/>
            <a:ext cx="2680826" cy="2084832"/>
          </a:xfrm>
          <a:prstGeom prst="rect">
            <a:avLst/>
          </a:prstGeom>
          <a:solidFill>
            <a:srgbClr val="FFFFFF"/>
          </a:solidFill>
          <a:ln w="9525">
            <a:solidFill>
              <a:srgbClr val="D5E0E1"/>
            </a:solidFill>
            <a:prstDash val="solid"/>
          </a:ln>
          <a:effectLst>
            <a:outerShdw sx="100000" sy="100000" kx="0" ky="0" algn="bl" rotWithShape="0" blurRad="76200" dist="19050" dir="5400000">
              <a:srgbClr val="000000">
                <a:alpha val="12000"/>
              </a:srgbClr>
            </a:outerShdw>
          </a:effectLst>
        </p:spPr>
      </p:sp>
      <p:pic>
        <p:nvPicPr>
          <p:cNvPr id="24" name="Image 2" descr="Lung segmentation methods">    </p:cNvPr>
          <p:cNvPicPr>
            <a:picLocks noChangeAspect="1"/>
          </p:cNvPicPr>
          <p:nvPr/>
        </p:nvPicPr>
        <p:blipFill>
          <a:blip r:embed="rId3"/>
          <a:stretch>
            <a:fillRect/>
          </a:stretch>
        </p:blipFill>
        <p:spPr>
          <a:xfrm>
            <a:off x="5188403" y="3977640"/>
            <a:ext cx="2607674" cy="2011680"/>
          </a:xfrm>
          <a:prstGeom prst="rect">
            <a:avLst/>
          </a:prstGeom>
        </p:spPr>
      </p:pic>
      <p:sp>
        <p:nvSpPr>
          <p:cNvPr id="25" name="Text 20"/>
          <p:cNvSpPr txBox="1"/>
          <p:nvPr/>
        </p:nvSpPr>
        <p:spPr>
          <a:xfrm>
            <a:off x="4800600" y="6062472"/>
            <a:ext cx="3383280" cy="274320"/>
          </a:xfrm>
          <a:prstGeom prst="rect">
            <a:avLst/>
          </a:prstGeom>
          <a:noFill/>
          <a:ln/>
        </p:spPr>
        <p:txBody>
          <a:bodyPr wrap="square" lIns="0" tIns="0" rIns="0" bIns="0" rtlCol="0" anchor="t"/>
          <a:lstStyle/>
          <a:p>
            <a:pPr indent="0" marL="0">
              <a:buNone/>
            </a:pPr>
            <a:r>
              <a:rPr lang="en-US" sz="1100" i="1" dirty="0">
                <a:solidFill>
                  <a:srgbClr val="5B6B73"/>
                </a:solidFill>
                <a:latin typeface="Calibri" pitchFamily="34" charset="0"/>
                <a:ea typeface="Calibri" pitchFamily="34" charset="-122"/>
                <a:cs typeface="Calibri" pitchFamily="34" charset="-120"/>
              </a:rPr>
              <a:t>Lung segmentation methods</a:t>
            </a:r>
            <a:endParaRPr lang="en-US" sz="1100" dirty="0"/>
          </a:p>
        </p:txBody>
      </p:sp>
      <p:sp>
        <p:nvSpPr>
          <p:cNvPr id="26" name="Shape 21"/>
          <p:cNvSpPr/>
          <p:nvPr/>
        </p:nvSpPr>
        <p:spPr>
          <a:xfrm>
            <a:off x="8575919" y="3941064"/>
            <a:ext cx="2873522" cy="2084832"/>
          </a:xfrm>
          <a:prstGeom prst="rect">
            <a:avLst/>
          </a:prstGeom>
          <a:solidFill>
            <a:srgbClr val="FFFFFF"/>
          </a:solidFill>
          <a:ln w="9525">
            <a:solidFill>
              <a:srgbClr val="D5E0E1"/>
            </a:solidFill>
            <a:prstDash val="solid"/>
          </a:ln>
          <a:effectLst>
            <a:outerShdw sx="100000" sy="100000" kx="0" ky="0" algn="bl" rotWithShape="0" blurRad="76200" dist="19050" dir="5400000">
              <a:srgbClr val="000000">
                <a:alpha val="12000"/>
              </a:srgbClr>
            </a:outerShdw>
          </a:effectLst>
        </p:spPr>
      </p:sp>
      <p:pic>
        <p:nvPicPr>
          <p:cNvPr id="27" name="Image 3" descr="Lossless compression: noisy vs noise-free">    </p:cNvPr>
          <p:cNvPicPr>
            <a:picLocks noChangeAspect="1"/>
          </p:cNvPicPr>
          <p:nvPr/>
        </p:nvPicPr>
        <p:blipFill>
          <a:blip r:embed="rId4"/>
          <a:stretch>
            <a:fillRect/>
          </a:stretch>
        </p:blipFill>
        <p:spPr>
          <a:xfrm>
            <a:off x="8612495" y="3977640"/>
            <a:ext cx="2800370" cy="2011680"/>
          </a:xfrm>
          <a:prstGeom prst="rect">
            <a:avLst/>
          </a:prstGeom>
        </p:spPr>
      </p:pic>
      <p:sp>
        <p:nvSpPr>
          <p:cNvPr id="28" name="Text 22"/>
          <p:cNvSpPr txBox="1"/>
          <p:nvPr/>
        </p:nvSpPr>
        <p:spPr>
          <a:xfrm>
            <a:off x="8321040" y="6062472"/>
            <a:ext cx="3383280" cy="274320"/>
          </a:xfrm>
          <a:prstGeom prst="rect">
            <a:avLst/>
          </a:prstGeom>
          <a:noFill/>
          <a:ln/>
        </p:spPr>
        <p:txBody>
          <a:bodyPr wrap="square" lIns="0" tIns="0" rIns="0" bIns="0" rtlCol="0" anchor="t"/>
          <a:lstStyle/>
          <a:p>
            <a:pPr indent="0" marL="0">
              <a:buNone/>
            </a:pPr>
            <a:r>
              <a:rPr lang="en-US" sz="1100" i="1" dirty="0">
                <a:solidFill>
                  <a:srgbClr val="5B6B73"/>
                </a:solidFill>
                <a:latin typeface="Calibri" pitchFamily="34" charset="0"/>
                <a:ea typeface="Calibri" pitchFamily="34" charset="-122"/>
                <a:cs typeface="Calibri" pitchFamily="34" charset="-120"/>
              </a:rPr>
              <a:t>Lossless compression: noisy vs noise-free</a:t>
            </a:r>
            <a:endParaRPr lang="en-US" sz="1100" dirty="0"/>
          </a:p>
        </p:txBody>
      </p:sp>
      <p:sp>
        <p:nvSpPr>
          <p:cNvPr id="29" name="Text 23"/>
          <p:cNvSpPr txBox="1"/>
          <p:nvPr/>
        </p:nvSpPr>
        <p:spPr>
          <a:xfrm>
            <a:off x="548640" y="6473952"/>
            <a:ext cx="5486400" cy="228600"/>
          </a:xfrm>
          <a:prstGeom prst="rect">
            <a:avLst/>
          </a:prstGeom>
          <a:noFill/>
          <a:ln/>
        </p:spPr>
        <p:txBody>
          <a:bodyPr wrap="square" lIns="0" tIns="0" rIns="0" bIns="0" rtlCol="0" anchor="ctr"/>
          <a:lstStyle/>
          <a:p>
            <a:pPr indent="0" marL="0">
              <a:buNone/>
            </a:pPr>
            <a:r>
              <a:rPr lang="en-US" sz="950" dirty="0">
                <a:solidFill>
                  <a:srgbClr val="5B6B73"/>
                </a:solidFill>
                <a:latin typeface="Calibri" pitchFamily="34" charset="0"/>
                <a:ea typeface="Calibri" pitchFamily="34" charset="-122"/>
                <a:cs typeface="Calibri" pitchFamily="34" charset="-120"/>
              </a:rPr>
              <a:t>Operational &amp; Hospital Workflow Analytics</a:t>
            </a:r>
            <a:endParaRPr lang="en-US" sz="950" dirty="0"/>
          </a:p>
        </p:txBody>
      </p:sp>
      <p:sp>
        <p:nvSpPr>
          <p:cNvPr id="30" name="Text 24"/>
          <p:cNvSpPr txBox="1"/>
          <p:nvPr/>
        </p:nvSpPr>
        <p:spPr>
          <a:xfrm>
            <a:off x="11183112" y="6473952"/>
            <a:ext cx="457200" cy="228600"/>
          </a:xfrm>
          <a:prstGeom prst="rect">
            <a:avLst/>
          </a:prstGeom>
          <a:noFill/>
          <a:ln/>
        </p:spPr>
        <p:txBody>
          <a:bodyPr wrap="square" lIns="0" tIns="0" rIns="0" bIns="0" rtlCol="0" anchor="ctr"/>
          <a:lstStyle/>
          <a:p>
            <a:pPr algn="r" indent="0" marL="0">
              <a:buNone/>
            </a:pPr>
            <a:r>
              <a:rPr lang="en-US" sz="950" dirty="0">
                <a:solidFill>
                  <a:srgbClr val="5B6B73"/>
                </a:solidFill>
                <a:latin typeface="Calibri" pitchFamily="34" charset="0"/>
                <a:ea typeface="Calibri" pitchFamily="34" charset="-122"/>
                <a:cs typeface="Calibri" pitchFamily="34" charset="-120"/>
              </a:rPr>
              <a:t>6</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1F7A7A"/>
                </a:solidFill>
                <a:latin typeface="Calibri" pitchFamily="34" charset="0"/>
                <a:ea typeface="Calibri" pitchFamily="34" charset="-122"/>
                <a:cs typeface="Calibri" pitchFamily="34" charset="-120"/>
              </a:rPr>
              <a:t>T5 · BIOMEDICAL IMAGE ANALYSIS: SIFT, RANSAC, CNN</a:t>
            </a:r>
            <a:endParaRPr lang="en-US" sz="1100" dirty="0"/>
          </a:p>
        </p:txBody>
      </p:sp>
      <p:sp>
        <p:nvSpPr>
          <p:cNvPr id="3" name="Text 1"/>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3000" b="1" dirty="0">
                <a:solidFill>
                  <a:srgbClr val="0F2A35"/>
                </a:solidFill>
                <a:latin typeface="Cambria" pitchFamily="34" charset="0"/>
                <a:ea typeface="Cambria" pitchFamily="34" charset="-122"/>
                <a:cs typeface="Cambria" pitchFamily="34" charset="-120"/>
              </a:rPr>
              <a:t>Aligning two scans, then finding the nodules</a:t>
            </a:r>
            <a:endParaRPr lang="en-US" sz="3000" dirty="0"/>
          </a:p>
        </p:txBody>
      </p:sp>
      <p:sp>
        <p:nvSpPr>
          <p:cNvPr id="4" name="Shape 2"/>
          <p:cNvSpPr/>
          <p:nvPr/>
        </p:nvSpPr>
        <p:spPr>
          <a:xfrm>
            <a:off x="702211" y="1335024"/>
            <a:ext cx="5179258" cy="2907792"/>
          </a:xfrm>
          <a:prstGeom prst="rect">
            <a:avLst/>
          </a:prstGeom>
          <a:solidFill>
            <a:srgbClr val="FFFFFF"/>
          </a:solidFill>
          <a:ln w="9525">
            <a:solidFill>
              <a:srgbClr val="D5E0E1"/>
            </a:solidFill>
            <a:prstDash val="solid"/>
          </a:ln>
          <a:effectLst>
            <a:outerShdw sx="100000" sy="100000" kx="0" ky="0" algn="bl" rotWithShape="0" blurRad="76200" dist="19050" dir="5400000">
              <a:srgbClr val="000000">
                <a:alpha val="12000"/>
              </a:srgbClr>
            </a:outerShdw>
          </a:effectLst>
        </p:spPr>
      </p:sp>
      <p:pic>
        <p:nvPicPr>
          <p:cNvPr id="5" name="Image 0" descr="SIFT matches between two scans">    </p:cNvPr>
          <p:cNvPicPr>
            <a:picLocks noChangeAspect="1"/>
          </p:cNvPicPr>
          <p:nvPr/>
        </p:nvPicPr>
        <p:blipFill>
          <a:blip r:embed="rId1"/>
          <a:stretch>
            <a:fillRect/>
          </a:stretch>
        </p:blipFill>
        <p:spPr>
          <a:xfrm>
            <a:off x="738787" y="1371600"/>
            <a:ext cx="5106106" cy="2834640"/>
          </a:xfrm>
          <a:prstGeom prst="rect">
            <a:avLst/>
          </a:prstGeom>
        </p:spPr>
      </p:pic>
      <p:sp>
        <p:nvSpPr>
          <p:cNvPr id="6" name="Text 3"/>
          <p:cNvSpPr txBox="1"/>
          <p:nvPr/>
        </p:nvSpPr>
        <p:spPr>
          <a:xfrm>
            <a:off x="548640" y="4297680"/>
            <a:ext cx="5486400" cy="274320"/>
          </a:xfrm>
          <a:prstGeom prst="rect">
            <a:avLst/>
          </a:prstGeom>
          <a:noFill/>
          <a:ln/>
        </p:spPr>
        <p:txBody>
          <a:bodyPr wrap="square" lIns="0" tIns="0" rIns="0" bIns="0" rtlCol="0" anchor="t"/>
          <a:lstStyle/>
          <a:p>
            <a:pPr indent="0" marL="0">
              <a:buNone/>
            </a:pPr>
            <a:r>
              <a:rPr lang="en-US" sz="1100" i="1" dirty="0">
                <a:solidFill>
                  <a:srgbClr val="5B6B73"/>
                </a:solidFill>
                <a:latin typeface="Calibri" pitchFamily="34" charset="0"/>
                <a:ea typeface="Calibri" pitchFamily="34" charset="-122"/>
                <a:cs typeface="Calibri" pitchFamily="34" charset="-120"/>
              </a:rPr>
              <a:t>SIFT matches: green kept by RANSAC, red rejected</a:t>
            </a:r>
            <a:endParaRPr lang="en-US" sz="1100" dirty="0"/>
          </a:p>
        </p:txBody>
      </p:sp>
      <p:sp>
        <p:nvSpPr>
          <p:cNvPr id="7" name="Shape 4"/>
          <p:cNvSpPr/>
          <p:nvPr/>
        </p:nvSpPr>
        <p:spPr>
          <a:xfrm>
            <a:off x="6365857" y="1335024"/>
            <a:ext cx="5236246" cy="2907792"/>
          </a:xfrm>
          <a:prstGeom prst="rect">
            <a:avLst/>
          </a:prstGeom>
          <a:solidFill>
            <a:srgbClr val="FFFFFF"/>
          </a:solidFill>
          <a:ln w="9525">
            <a:solidFill>
              <a:srgbClr val="D5E0E1"/>
            </a:solidFill>
            <a:prstDash val="solid"/>
          </a:ln>
          <a:effectLst>
            <a:outerShdw sx="100000" sy="100000" kx="0" ky="0" algn="bl" rotWithShape="0" blurRad="76200" dist="19050" dir="5400000">
              <a:srgbClr val="000000">
                <a:alpha val="12000"/>
              </a:srgbClr>
            </a:outerShdw>
          </a:effectLst>
        </p:spPr>
      </p:sp>
      <p:pic>
        <p:nvPicPr>
          <p:cNvPr id="8" name="Image 1" descr="CNN detections on an unseen slice">    </p:cNvPr>
          <p:cNvPicPr>
            <a:picLocks noChangeAspect="1"/>
          </p:cNvPicPr>
          <p:nvPr/>
        </p:nvPicPr>
        <p:blipFill>
          <a:blip r:embed="rId2"/>
          <a:stretch>
            <a:fillRect/>
          </a:stretch>
        </p:blipFill>
        <p:spPr>
          <a:xfrm>
            <a:off x="6402433" y="1371600"/>
            <a:ext cx="5163094" cy="2834640"/>
          </a:xfrm>
          <a:prstGeom prst="rect">
            <a:avLst/>
          </a:prstGeom>
        </p:spPr>
      </p:pic>
      <p:sp>
        <p:nvSpPr>
          <p:cNvPr id="9" name="Text 5"/>
          <p:cNvSpPr txBox="1"/>
          <p:nvPr/>
        </p:nvSpPr>
        <p:spPr>
          <a:xfrm>
            <a:off x="6309360" y="4297680"/>
            <a:ext cx="5349240" cy="274320"/>
          </a:xfrm>
          <a:prstGeom prst="rect">
            <a:avLst/>
          </a:prstGeom>
          <a:noFill/>
          <a:ln/>
        </p:spPr>
        <p:txBody>
          <a:bodyPr wrap="square" lIns="0" tIns="0" rIns="0" bIns="0" rtlCol="0" anchor="t"/>
          <a:lstStyle/>
          <a:p>
            <a:pPr indent="0" marL="0">
              <a:buNone/>
            </a:pPr>
            <a:r>
              <a:rPr lang="en-US" sz="1100" i="1" dirty="0">
                <a:solidFill>
                  <a:srgbClr val="5B6B73"/>
                </a:solidFill>
                <a:latin typeface="Calibri" pitchFamily="34" charset="0"/>
                <a:ea typeface="Calibri" pitchFamily="34" charset="-122"/>
                <a:cs typeface="Calibri" pitchFamily="34" charset="-120"/>
              </a:rPr>
              <a:t>CNN on an unseen slice: green = true nodules, red = detections</a:t>
            </a:r>
            <a:endParaRPr lang="en-US" sz="1100" dirty="0"/>
          </a:p>
        </p:txBody>
      </p:sp>
      <p:sp>
        <p:nvSpPr>
          <p:cNvPr id="10" name="Shape 6"/>
          <p:cNvSpPr/>
          <p:nvPr/>
        </p:nvSpPr>
        <p:spPr>
          <a:xfrm>
            <a:off x="548640" y="4937760"/>
            <a:ext cx="3566160" cy="1325880"/>
          </a:xfrm>
          <a:prstGeom prst="roundRect">
            <a:avLst>
              <a:gd name="adj" fmla="val 5517"/>
            </a:avLst>
          </a:prstGeom>
          <a:solidFill>
            <a:srgbClr val="EEF3F3"/>
          </a:solidFill>
          <a:ln w="9525">
            <a:solidFill>
              <a:srgbClr val="D5E0E1"/>
            </a:solidFill>
            <a:prstDash val="solid"/>
          </a:ln>
        </p:spPr>
      </p:sp>
      <p:sp>
        <p:nvSpPr>
          <p:cNvPr id="11" name="Text 7"/>
          <p:cNvSpPr txBox="1"/>
          <p:nvPr/>
        </p:nvSpPr>
        <p:spPr>
          <a:xfrm>
            <a:off x="777240" y="5029200"/>
            <a:ext cx="3108960" cy="548640"/>
          </a:xfrm>
          <a:prstGeom prst="rect">
            <a:avLst/>
          </a:prstGeom>
          <a:noFill/>
          <a:ln/>
        </p:spPr>
        <p:txBody>
          <a:bodyPr wrap="square" lIns="0" tIns="0" rIns="0" bIns="0" rtlCol="0" anchor="ctr"/>
          <a:lstStyle/>
          <a:p>
            <a:pPr indent="0" marL="0">
              <a:buNone/>
            </a:pPr>
            <a:r>
              <a:rPr lang="en-US" sz="2400" b="1" dirty="0">
                <a:solidFill>
                  <a:srgbClr val="1F7A7A"/>
                </a:solidFill>
                <a:latin typeface="Cambria" pitchFamily="34" charset="0"/>
                <a:ea typeface="Cambria" pitchFamily="34" charset="-122"/>
                <a:cs typeface="Cambria" pitchFamily="34" charset="-120"/>
              </a:rPr>
              <a:t>1.1 mm vs 29 mm</a:t>
            </a:r>
            <a:endParaRPr lang="en-US" sz="2400" dirty="0"/>
          </a:p>
        </p:txBody>
      </p:sp>
      <p:sp>
        <p:nvSpPr>
          <p:cNvPr id="12" name="Text 8"/>
          <p:cNvSpPr txBox="1"/>
          <p:nvPr/>
        </p:nvSpPr>
        <p:spPr>
          <a:xfrm>
            <a:off x="777240" y="5577840"/>
            <a:ext cx="3108960" cy="640080"/>
          </a:xfrm>
          <a:prstGeom prst="rect">
            <a:avLst/>
          </a:prstGeom>
          <a:noFill/>
          <a:ln/>
        </p:spPr>
        <p:txBody>
          <a:bodyPr wrap="square" lIns="0" tIns="0" rIns="0" bIns="0" rtlCol="0" anchor="t"/>
          <a:lstStyle/>
          <a:p>
            <a:pPr indent="0" marL="0">
              <a:buNone/>
            </a:pPr>
            <a:r>
              <a:rPr lang="en-US" sz="1150" dirty="0">
                <a:solidFill>
                  <a:srgbClr val="5B6B73"/>
                </a:solidFill>
                <a:latin typeface="Calibri" pitchFamily="34" charset="0"/>
                <a:ea typeface="Calibri" pitchFamily="34" charset="-122"/>
                <a:cs typeface="Calibri" pitchFamily="34" charset="-120"/>
              </a:rPr>
              <a:t>Error at the nodules after registering a re-scan (RANSAC vs plain least squares on the same matches)</a:t>
            </a:r>
            <a:endParaRPr lang="en-US" sz="1150" dirty="0"/>
          </a:p>
        </p:txBody>
      </p:sp>
      <p:sp>
        <p:nvSpPr>
          <p:cNvPr id="13" name="Shape 9"/>
          <p:cNvSpPr/>
          <p:nvPr/>
        </p:nvSpPr>
        <p:spPr>
          <a:xfrm>
            <a:off x="4297680" y="4937760"/>
            <a:ext cx="3566160" cy="1325880"/>
          </a:xfrm>
          <a:prstGeom prst="roundRect">
            <a:avLst>
              <a:gd name="adj" fmla="val 5517"/>
            </a:avLst>
          </a:prstGeom>
          <a:solidFill>
            <a:srgbClr val="EEF3F3"/>
          </a:solidFill>
          <a:ln w="9525">
            <a:solidFill>
              <a:srgbClr val="D5E0E1"/>
            </a:solidFill>
            <a:prstDash val="solid"/>
          </a:ln>
        </p:spPr>
      </p:sp>
      <p:sp>
        <p:nvSpPr>
          <p:cNvPr id="14" name="Text 10"/>
          <p:cNvSpPr txBox="1"/>
          <p:nvPr/>
        </p:nvSpPr>
        <p:spPr>
          <a:xfrm>
            <a:off x="4526280" y="5029200"/>
            <a:ext cx="3108960" cy="548640"/>
          </a:xfrm>
          <a:prstGeom prst="rect">
            <a:avLst/>
          </a:prstGeom>
          <a:noFill/>
          <a:ln/>
        </p:spPr>
        <p:txBody>
          <a:bodyPr wrap="square" lIns="0" tIns="0" rIns="0" bIns="0" rtlCol="0" anchor="ctr"/>
          <a:lstStyle/>
          <a:p>
            <a:pPr indent="0" marL="0">
              <a:buNone/>
            </a:pPr>
            <a:r>
              <a:rPr lang="en-US" sz="2400" b="1" dirty="0">
                <a:solidFill>
                  <a:srgbClr val="1F7A7A"/>
                </a:solidFill>
                <a:latin typeface="Cambria" pitchFamily="34" charset="0"/>
                <a:ea typeface="Cambria" pitchFamily="34" charset="-122"/>
                <a:cs typeface="Cambria" pitchFamily="34" charset="-120"/>
              </a:rPr>
              <a:t>0.999 vs 0.952</a:t>
            </a:r>
            <a:endParaRPr lang="en-US" sz="2400" dirty="0"/>
          </a:p>
        </p:txBody>
      </p:sp>
      <p:sp>
        <p:nvSpPr>
          <p:cNvPr id="15" name="Text 11"/>
          <p:cNvSpPr txBox="1"/>
          <p:nvPr/>
        </p:nvSpPr>
        <p:spPr>
          <a:xfrm>
            <a:off x="4526280" y="5577840"/>
            <a:ext cx="3108960" cy="640080"/>
          </a:xfrm>
          <a:prstGeom prst="rect">
            <a:avLst/>
          </a:prstGeom>
          <a:noFill/>
          <a:ln/>
        </p:spPr>
        <p:txBody>
          <a:bodyPr wrap="square" lIns="0" tIns="0" rIns="0" bIns="0" rtlCol="0" anchor="t"/>
          <a:lstStyle/>
          <a:p>
            <a:pPr indent="0" marL="0">
              <a:buNone/>
            </a:pPr>
            <a:r>
              <a:rPr lang="en-US" sz="1150" dirty="0">
                <a:solidFill>
                  <a:srgbClr val="5B6B73"/>
                </a:solidFill>
                <a:latin typeface="Calibri" pitchFamily="34" charset="0"/>
                <a:ea typeface="Calibri" pitchFamily="34" charset="-122"/>
                <a:cs typeface="Calibri" pitchFamily="34" charset="-120"/>
              </a:rPr>
              <a:t>CNN test AUC vs logistic regression on pixels; all 3 training seeds agree</a:t>
            </a:r>
            <a:endParaRPr lang="en-US" sz="1150" dirty="0"/>
          </a:p>
        </p:txBody>
      </p:sp>
      <p:sp>
        <p:nvSpPr>
          <p:cNvPr id="16" name="Shape 12"/>
          <p:cNvSpPr/>
          <p:nvPr/>
        </p:nvSpPr>
        <p:spPr>
          <a:xfrm>
            <a:off x="8046720" y="4937760"/>
            <a:ext cx="3566160" cy="1325880"/>
          </a:xfrm>
          <a:prstGeom prst="roundRect">
            <a:avLst>
              <a:gd name="adj" fmla="val 5517"/>
            </a:avLst>
          </a:prstGeom>
          <a:solidFill>
            <a:srgbClr val="EEF3F3"/>
          </a:solidFill>
          <a:ln w="9525">
            <a:solidFill>
              <a:srgbClr val="D5E0E1"/>
            </a:solidFill>
            <a:prstDash val="solid"/>
          </a:ln>
        </p:spPr>
      </p:sp>
      <p:sp>
        <p:nvSpPr>
          <p:cNvPr id="17" name="Text 13"/>
          <p:cNvSpPr txBox="1"/>
          <p:nvPr/>
        </p:nvSpPr>
        <p:spPr>
          <a:xfrm>
            <a:off x="8275320" y="5029200"/>
            <a:ext cx="3108960" cy="548640"/>
          </a:xfrm>
          <a:prstGeom prst="rect">
            <a:avLst/>
          </a:prstGeom>
          <a:noFill/>
          <a:ln/>
        </p:spPr>
        <p:txBody>
          <a:bodyPr wrap="square" lIns="0" tIns="0" rIns="0" bIns="0" rtlCol="0" anchor="ctr"/>
          <a:lstStyle/>
          <a:p>
            <a:pPr indent="0" marL="0">
              <a:buNone/>
            </a:pPr>
            <a:r>
              <a:rPr lang="en-US" sz="2400" b="1" dirty="0">
                <a:solidFill>
                  <a:srgbClr val="1F7A7A"/>
                </a:solidFill>
                <a:latin typeface="Cambria" pitchFamily="34" charset="0"/>
                <a:ea typeface="Cambria" pitchFamily="34" charset="-122"/>
                <a:cs typeface="Cambria" pitchFamily="34" charset="-120"/>
              </a:rPr>
              <a:t>4 of 4</a:t>
            </a:r>
            <a:endParaRPr lang="en-US" sz="2400" dirty="0"/>
          </a:p>
        </p:txBody>
      </p:sp>
      <p:sp>
        <p:nvSpPr>
          <p:cNvPr id="18" name="Text 14"/>
          <p:cNvSpPr txBox="1"/>
          <p:nvPr/>
        </p:nvSpPr>
        <p:spPr>
          <a:xfrm>
            <a:off x="8275320" y="5577840"/>
            <a:ext cx="3108960" cy="640080"/>
          </a:xfrm>
          <a:prstGeom prst="rect">
            <a:avLst/>
          </a:prstGeom>
          <a:noFill/>
          <a:ln/>
        </p:spPr>
        <p:txBody>
          <a:bodyPr wrap="square" lIns="0" tIns="0" rIns="0" bIns="0" rtlCol="0" anchor="t"/>
          <a:lstStyle/>
          <a:p>
            <a:pPr indent="0" marL="0">
              <a:buNone/>
            </a:pPr>
            <a:r>
              <a:rPr lang="en-US" sz="1150" dirty="0">
                <a:solidFill>
                  <a:srgbClr val="5B6B73"/>
                </a:solidFill>
                <a:latin typeface="Calibri" pitchFamily="34" charset="0"/>
                <a:ea typeface="Calibri" pitchFamily="34" charset="-122"/>
                <a:cs typeface="Calibri" pitchFamily="34" charset="-120"/>
              </a:rPr>
              <a:t>nodules found on a whole slice, with one false alarm on the CT couch</a:t>
            </a:r>
            <a:endParaRPr lang="en-US" sz="1150" dirty="0"/>
          </a:p>
        </p:txBody>
      </p:sp>
      <p:sp>
        <p:nvSpPr>
          <p:cNvPr id="19" name="Text 15"/>
          <p:cNvSpPr txBox="1"/>
          <p:nvPr/>
        </p:nvSpPr>
        <p:spPr>
          <a:xfrm>
            <a:off x="548640" y="6473952"/>
            <a:ext cx="5486400" cy="228600"/>
          </a:xfrm>
          <a:prstGeom prst="rect">
            <a:avLst/>
          </a:prstGeom>
          <a:noFill/>
          <a:ln/>
        </p:spPr>
        <p:txBody>
          <a:bodyPr wrap="square" lIns="0" tIns="0" rIns="0" bIns="0" rtlCol="0" anchor="ctr"/>
          <a:lstStyle/>
          <a:p>
            <a:pPr indent="0" marL="0">
              <a:buNone/>
            </a:pPr>
            <a:r>
              <a:rPr lang="en-US" sz="950" dirty="0">
                <a:solidFill>
                  <a:srgbClr val="5B6B73"/>
                </a:solidFill>
                <a:latin typeface="Calibri" pitchFamily="34" charset="0"/>
                <a:ea typeface="Calibri" pitchFamily="34" charset="-122"/>
                <a:cs typeface="Calibri" pitchFamily="34" charset="-120"/>
              </a:rPr>
              <a:t>Operational &amp; Hospital Workflow Analytics</a:t>
            </a:r>
            <a:endParaRPr lang="en-US" sz="950" dirty="0"/>
          </a:p>
        </p:txBody>
      </p:sp>
      <p:sp>
        <p:nvSpPr>
          <p:cNvPr id="20" name="Text 16"/>
          <p:cNvSpPr txBox="1"/>
          <p:nvPr/>
        </p:nvSpPr>
        <p:spPr>
          <a:xfrm>
            <a:off x="11183112" y="6473952"/>
            <a:ext cx="457200" cy="228600"/>
          </a:xfrm>
          <a:prstGeom prst="rect">
            <a:avLst/>
          </a:prstGeom>
          <a:noFill/>
          <a:ln/>
        </p:spPr>
        <p:txBody>
          <a:bodyPr wrap="square" lIns="0" tIns="0" rIns="0" bIns="0" rtlCol="0" anchor="ctr"/>
          <a:lstStyle/>
          <a:p>
            <a:pPr algn="r" indent="0" marL="0">
              <a:buNone/>
            </a:pPr>
            <a:r>
              <a:rPr lang="en-US" sz="950" dirty="0">
                <a:solidFill>
                  <a:srgbClr val="5B6B73"/>
                </a:solidFill>
                <a:latin typeface="Calibri" pitchFamily="34" charset="0"/>
                <a:ea typeface="Calibri" pitchFamily="34" charset="-122"/>
                <a:cs typeface="Calibri" pitchFamily="34" charset="-120"/>
              </a:rPr>
              <a:t>7</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1F7A7A"/>
                </a:solidFill>
                <a:latin typeface="Calibri" pitchFamily="34" charset="0"/>
                <a:ea typeface="Calibri" pitchFamily="34" charset="-122"/>
                <a:cs typeface="Calibri" pitchFamily="34" charset="-120"/>
              </a:rPr>
              <a:t>T6 · BIOMEDICAL IMAGE VISUALISATION</a:t>
            </a:r>
            <a:endParaRPr lang="en-US" sz="1100" dirty="0"/>
          </a:p>
        </p:txBody>
      </p:sp>
      <p:sp>
        <p:nvSpPr>
          <p:cNvPr id="3" name="Text 1"/>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3000" b="1" dirty="0">
                <a:solidFill>
                  <a:srgbClr val="0F2A35"/>
                </a:solidFill>
                <a:latin typeface="Cambria" pitchFamily="34" charset="0"/>
                <a:ea typeface="Cambria" pitchFamily="34" charset="-122"/>
                <a:cs typeface="Cambria" pitchFamily="34" charset="-120"/>
              </a:rPr>
              <a:t>An interactive viewer instead of static pictures</a:t>
            </a:r>
            <a:endParaRPr lang="en-US" sz="3000" dirty="0"/>
          </a:p>
        </p:txBody>
      </p:sp>
      <p:sp>
        <p:nvSpPr>
          <p:cNvPr id="4" name="Shape 2"/>
          <p:cNvSpPr/>
          <p:nvPr/>
        </p:nvSpPr>
        <p:spPr>
          <a:xfrm>
            <a:off x="512064" y="1569955"/>
            <a:ext cx="6748272" cy="4449609"/>
          </a:xfrm>
          <a:prstGeom prst="rect">
            <a:avLst/>
          </a:prstGeom>
          <a:solidFill>
            <a:srgbClr val="FFFFFF"/>
          </a:solidFill>
          <a:ln w="9525">
            <a:solidFill>
              <a:srgbClr val="D5E0E1"/>
            </a:solidFill>
            <a:prstDash val="solid"/>
          </a:ln>
          <a:effectLst>
            <a:outerShdw sx="100000" sy="100000" kx="0" ky="0" algn="bl" rotWithShape="0" blurRad="76200" dist="19050" dir="5400000">
              <a:srgbClr val="000000">
                <a:alpha val="12000"/>
              </a:srgbClr>
            </a:outerShdw>
          </a:effectLst>
        </p:spPr>
      </p:sp>
      <p:pic>
        <p:nvPicPr>
          <p:cNvPr id="5" name="Image 0" descr="Interactive multi-planar viewer">    </p:cNvPr>
          <p:cNvPicPr>
            <a:picLocks noChangeAspect="1"/>
          </p:cNvPicPr>
          <p:nvPr/>
        </p:nvPicPr>
        <p:blipFill>
          <a:blip r:embed="rId1"/>
          <a:stretch>
            <a:fillRect/>
          </a:stretch>
        </p:blipFill>
        <p:spPr>
          <a:xfrm>
            <a:off x="548640" y="1606531"/>
            <a:ext cx="6675120" cy="4376457"/>
          </a:xfrm>
          <a:prstGeom prst="rect">
            <a:avLst/>
          </a:prstGeom>
        </p:spPr>
      </p:pic>
      <p:sp>
        <p:nvSpPr>
          <p:cNvPr id="6" name="Shape 3"/>
          <p:cNvSpPr/>
          <p:nvPr/>
        </p:nvSpPr>
        <p:spPr>
          <a:xfrm>
            <a:off x="7552944" y="1390451"/>
            <a:ext cx="4142232" cy="1516778"/>
          </a:xfrm>
          <a:prstGeom prst="rect">
            <a:avLst/>
          </a:prstGeom>
          <a:solidFill>
            <a:srgbClr val="FFFFFF"/>
          </a:solidFill>
          <a:ln w="9525">
            <a:solidFill>
              <a:srgbClr val="D5E0E1"/>
            </a:solidFill>
            <a:prstDash val="solid"/>
          </a:ln>
          <a:effectLst>
            <a:outerShdw sx="100000" sy="100000" kx="0" ky="0" algn="bl" rotWithShape="0" blurRad="76200" dist="19050" dir="5400000">
              <a:srgbClr val="000000">
                <a:alpha val="12000"/>
              </a:srgbClr>
            </a:outerShdw>
          </a:effectLst>
        </p:spPr>
      </p:sp>
      <p:pic>
        <p:nvPicPr>
          <p:cNvPr id="7" name="Image 1" descr="Maximum intensity projection with viridis colormap">    </p:cNvPr>
          <p:cNvPicPr>
            <a:picLocks noChangeAspect="1"/>
          </p:cNvPicPr>
          <p:nvPr/>
        </p:nvPicPr>
        <p:blipFill>
          <a:blip r:embed="rId2"/>
          <a:stretch>
            <a:fillRect/>
          </a:stretch>
        </p:blipFill>
        <p:spPr>
          <a:xfrm>
            <a:off x="7589520" y="1427027"/>
            <a:ext cx="4069080" cy="1443626"/>
          </a:xfrm>
          <a:prstGeom prst="rect">
            <a:avLst/>
          </a:prstGeom>
        </p:spPr>
      </p:pic>
      <p:sp>
        <p:nvSpPr>
          <p:cNvPr id="8" name="Text 4"/>
          <p:cNvSpPr txBox="1"/>
          <p:nvPr/>
        </p:nvSpPr>
        <p:spPr>
          <a:xfrm>
            <a:off x="7589520" y="2962093"/>
            <a:ext cx="4069080" cy="411480"/>
          </a:xfrm>
          <a:prstGeom prst="rect">
            <a:avLst/>
          </a:prstGeom>
          <a:noFill/>
          <a:ln/>
        </p:spPr>
        <p:txBody>
          <a:bodyPr wrap="square" lIns="0" tIns="0" rIns="0" bIns="0" rtlCol="0" anchor="t"/>
          <a:lstStyle/>
          <a:p>
            <a:pPr indent="0" marL="0">
              <a:buNone/>
            </a:pPr>
            <a:r>
              <a:rPr lang="en-US" sz="1100" i="1" dirty="0">
                <a:solidFill>
                  <a:srgbClr val="5B6B73"/>
                </a:solidFill>
                <a:latin typeface="Calibri" pitchFamily="34" charset="0"/>
                <a:ea typeface="Calibri" pitchFamily="34" charset="-122"/>
                <a:cs typeface="Calibri" pitchFamily="34" charset="-120"/>
              </a:rPr>
              <a:t>Same volume: soft-tissue window, MIP slab, viridis colormap</a:t>
            </a:r>
            <a:endParaRPr lang="en-US" sz="1100" dirty="0"/>
          </a:p>
        </p:txBody>
      </p:sp>
      <p:sp>
        <p:nvSpPr>
          <p:cNvPr id="9" name="Text 5"/>
          <p:cNvSpPr txBox="1"/>
          <p:nvPr/>
        </p:nvSpPr>
        <p:spPr>
          <a:xfrm>
            <a:off x="7589520" y="3794760"/>
            <a:ext cx="4069080" cy="246888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0F2A35"/>
                </a:solidFill>
                <a:latin typeface="Calibri" pitchFamily="34" charset="0"/>
                <a:ea typeface="Calibri" pitchFamily="34" charset="-122"/>
                <a:cs typeface="Calibri" pitchFamily="34" charset="-120"/>
              </a:rPr>
              <a:t>Axial, coronal and sagittal views with a linked crosshair</a:t>
            </a:r>
            <a:endParaRPr lang="en-US" sz="1250" dirty="0"/>
          </a:p>
          <a:p>
            <a:pPr marL="177800" indent="-177800">
              <a:spcAft>
                <a:spcPts val="700"/>
              </a:spcAft>
              <a:buSzPct val="100000"/>
              <a:buChar char="•"/>
            </a:pPr>
            <a:r>
              <a:rPr lang="en-US" sz="1250" dirty="0">
                <a:solidFill>
                  <a:srgbClr val="0F2A35"/>
                </a:solidFill>
                <a:latin typeface="Calibri" pitchFamily="34" charset="0"/>
                <a:ea typeface="Calibri" pitchFamily="34" charset="-122"/>
                <a:cs typeface="Calibri" pitchFamily="34" charset="-120"/>
              </a:rPr>
              <a:t>Window presets, live level and width, five colormaps</a:t>
            </a:r>
            <a:endParaRPr lang="en-US" sz="1250" dirty="0"/>
          </a:p>
          <a:p>
            <a:pPr marL="177800" indent="-177800">
              <a:spcAft>
                <a:spcPts val="700"/>
              </a:spcAft>
              <a:buSzPct val="100000"/>
              <a:buChar char="•"/>
            </a:pPr>
            <a:r>
              <a:rPr lang="en-US" sz="1250" dirty="0">
                <a:solidFill>
                  <a:srgbClr val="0F2A35"/>
                </a:solidFill>
                <a:latin typeface="Calibri" pitchFamily="34" charset="0"/>
                <a:ea typeface="Calibri" pitchFamily="34" charset="-122"/>
                <a:cs typeface="Calibri" pitchFamily="34" charset="-120"/>
              </a:rPr>
              <a:t>MIP, MinIP and average slabs; ground-truth nodule overlay</a:t>
            </a:r>
            <a:endParaRPr lang="en-US" sz="1250" dirty="0"/>
          </a:p>
          <a:p>
            <a:pPr marL="177800" indent="-177800">
              <a:spcAft>
                <a:spcPts val="700"/>
              </a:spcAft>
              <a:buSzPct val="100000"/>
              <a:buChar char="•"/>
            </a:pPr>
            <a:r>
              <a:rPr lang="en-US" sz="1250" dirty="0">
                <a:solidFill>
                  <a:srgbClr val="0F2A35"/>
                </a:solidFill>
                <a:latin typeface="Calibri" pitchFamily="34" charset="0"/>
                <a:ea typeface="Calibri" pitchFamily="34" charset="-122"/>
                <a:cs typeface="Calibri" pitchFamily="34" charset="-120"/>
              </a:rPr>
              <a:t>Rainbow (jet) reverses lightness three times, so it fakes edges. Viridis rises steadily.</a:t>
            </a:r>
            <a:endParaRPr lang="en-US" sz="1250" dirty="0"/>
          </a:p>
        </p:txBody>
      </p:sp>
      <p:sp>
        <p:nvSpPr>
          <p:cNvPr id="10" name="Text 6"/>
          <p:cNvSpPr txBox="1"/>
          <p:nvPr/>
        </p:nvSpPr>
        <p:spPr>
          <a:xfrm>
            <a:off x="548640" y="6473952"/>
            <a:ext cx="5486400" cy="228600"/>
          </a:xfrm>
          <a:prstGeom prst="rect">
            <a:avLst/>
          </a:prstGeom>
          <a:noFill/>
          <a:ln/>
        </p:spPr>
        <p:txBody>
          <a:bodyPr wrap="square" lIns="0" tIns="0" rIns="0" bIns="0" rtlCol="0" anchor="ctr"/>
          <a:lstStyle/>
          <a:p>
            <a:pPr indent="0" marL="0">
              <a:buNone/>
            </a:pPr>
            <a:r>
              <a:rPr lang="en-US" sz="950" dirty="0">
                <a:solidFill>
                  <a:srgbClr val="5B6B73"/>
                </a:solidFill>
                <a:latin typeface="Calibri" pitchFamily="34" charset="0"/>
                <a:ea typeface="Calibri" pitchFamily="34" charset="-122"/>
                <a:cs typeface="Calibri" pitchFamily="34" charset="-120"/>
              </a:rPr>
              <a:t>Operational &amp; Hospital Workflow Analytics</a:t>
            </a:r>
            <a:endParaRPr lang="en-US" sz="950" dirty="0"/>
          </a:p>
        </p:txBody>
      </p:sp>
      <p:sp>
        <p:nvSpPr>
          <p:cNvPr id="11" name="Text 7"/>
          <p:cNvSpPr txBox="1"/>
          <p:nvPr/>
        </p:nvSpPr>
        <p:spPr>
          <a:xfrm>
            <a:off x="11183112" y="6473952"/>
            <a:ext cx="457200" cy="228600"/>
          </a:xfrm>
          <a:prstGeom prst="rect">
            <a:avLst/>
          </a:prstGeom>
          <a:noFill/>
          <a:ln/>
        </p:spPr>
        <p:txBody>
          <a:bodyPr wrap="square" lIns="0" tIns="0" rIns="0" bIns="0" rtlCol="0" anchor="ctr"/>
          <a:lstStyle/>
          <a:p>
            <a:pPr algn="r" indent="0" marL="0">
              <a:buNone/>
            </a:pPr>
            <a:r>
              <a:rPr lang="en-US" sz="950" dirty="0">
                <a:solidFill>
                  <a:srgbClr val="5B6B73"/>
                </a:solidFill>
                <a:latin typeface="Calibri" pitchFamily="34" charset="0"/>
                <a:ea typeface="Calibri" pitchFamily="34" charset="-122"/>
                <a:cs typeface="Calibri" pitchFamily="34" charset="-120"/>
              </a:rPr>
              <a:t>8</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1F7A7A"/>
                </a:solidFill>
                <a:latin typeface="Calibri" pitchFamily="34" charset="0"/>
                <a:ea typeface="Calibri" pitchFamily="34" charset="-122"/>
                <a:cs typeface="Calibri" pitchFamily="34" charset="-120"/>
              </a:rPr>
              <a:t>QUALITY OF PROJECT WORK / INNOVATION</a:t>
            </a:r>
            <a:endParaRPr lang="en-US" sz="1100" dirty="0"/>
          </a:p>
        </p:txBody>
      </p:sp>
      <p:sp>
        <p:nvSpPr>
          <p:cNvPr id="3" name="Text 1"/>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3000" b="1" dirty="0">
                <a:solidFill>
                  <a:srgbClr val="0F2A35"/>
                </a:solidFill>
                <a:latin typeface="Cambria" pitchFamily="34" charset="0"/>
                <a:ea typeface="Cambria" pitchFamily="34" charset="-122"/>
                <a:cs typeface="Cambria" pitchFamily="34" charset="-120"/>
              </a:rPr>
              <a:t>What we did beyond following the textbook</a:t>
            </a:r>
            <a:endParaRPr lang="en-US" sz="3000" dirty="0"/>
          </a:p>
        </p:txBody>
      </p:sp>
      <p:sp>
        <p:nvSpPr>
          <p:cNvPr id="4" name="Shape 2"/>
          <p:cNvSpPr/>
          <p:nvPr/>
        </p:nvSpPr>
        <p:spPr>
          <a:xfrm>
            <a:off x="548640" y="1508760"/>
            <a:ext cx="3520440" cy="2103120"/>
          </a:xfrm>
          <a:prstGeom prst="roundRect">
            <a:avLst>
              <a:gd name="adj" fmla="val 3478"/>
            </a:avLst>
          </a:prstGeom>
          <a:solidFill>
            <a:srgbClr val="EEF3F3"/>
          </a:solidFill>
          <a:ln w="9525">
            <a:solidFill>
              <a:srgbClr val="D5E0E1"/>
            </a:solidFill>
            <a:prstDash val="solid"/>
          </a:ln>
        </p:spPr>
      </p:sp>
      <p:sp>
        <p:nvSpPr>
          <p:cNvPr id="5" name="Shape 3"/>
          <p:cNvSpPr/>
          <p:nvPr/>
        </p:nvSpPr>
        <p:spPr>
          <a:xfrm>
            <a:off x="777240" y="1737360"/>
            <a:ext cx="384048" cy="384048"/>
          </a:xfrm>
          <a:prstGeom prst="ellipse">
            <a:avLst/>
          </a:prstGeom>
          <a:solidFill>
            <a:srgbClr val="1F7A7A"/>
          </a:solidFill>
          <a:ln w="12700">
            <a:solidFill>
              <a:srgbClr val="1F7A7A"/>
            </a:solidFill>
            <a:prstDash val="solid"/>
          </a:ln>
        </p:spPr>
      </p:sp>
      <p:sp>
        <p:nvSpPr>
          <p:cNvPr id="6" name="Text 4"/>
          <p:cNvSpPr txBox="1"/>
          <p:nvPr/>
        </p:nvSpPr>
        <p:spPr>
          <a:xfrm>
            <a:off x="777240" y="17373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325880" y="1737360"/>
            <a:ext cx="2560320" cy="384048"/>
          </a:xfrm>
          <a:prstGeom prst="rect">
            <a:avLst/>
          </a:prstGeom>
          <a:noFill/>
          <a:ln/>
        </p:spPr>
        <p:txBody>
          <a:bodyPr wrap="square" lIns="0" tIns="0" rIns="0" bIns="0" rtlCol="0" anchor="ctr"/>
          <a:lstStyle/>
          <a:p>
            <a:pPr indent="0" marL="0">
              <a:buNone/>
            </a:pPr>
            <a:r>
              <a:rPr lang="en-US" sz="1500" b="1" dirty="0">
                <a:solidFill>
                  <a:srgbClr val="0F2A35"/>
                </a:solidFill>
                <a:latin typeface="Calibri" pitchFamily="34" charset="0"/>
                <a:ea typeface="Calibri" pitchFamily="34" charset="-122"/>
                <a:cs typeface="Calibri" pitchFamily="34" charset="-120"/>
              </a:rPr>
              <a:t>Found the definition mismatch</a:t>
            </a:r>
            <a:endParaRPr lang="en-US" sz="1500" dirty="0"/>
          </a:p>
        </p:txBody>
      </p:sp>
      <p:sp>
        <p:nvSpPr>
          <p:cNvPr id="8" name="Text 6"/>
          <p:cNvSpPr txBox="1"/>
          <p:nvPr/>
        </p:nvSpPr>
        <p:spPr>
          <a:xfrm>
            <a:off x="777240" y="2286000"/>
            <a:ext cx="3063240" cy="1234440"/>
          </a:xfrm>
          <a:prstGeom prst="rect">
            <a:avLst/>
          </a:prstGeom>
          <a:noFill/>
          <a:ln/>
        </p:spPr>
        <p:txBody>
          <a:bodyPr wrap="square" lIns="0" tIns="0" rIns="0" bIns="0" rtlCol="0" anchor="t"/>
          <a:lstStyle/>
          <a:p>
            <a:pPr indent="0" marL="0">
              <a:buNone/>
            </a:pPr>
            <a:r>
              <a:rPr lang="en-US" sz="1250" dirty="0">
                <a:solidFill>
                  <a:srgbClr val="5B6B73"/>
                </a:solidFill>
                <a:latin typeface="Calibri" pitchFamily="34" charset="0"/>
                <a:ea typeface="Calibri" pitchFamily="34" charset="-122"/>
                <a:cs typeface="Calibri" pitchFamily="34" charset="-120"/>
              </a:rPr>
              <a:t>Wait meant different things at different sites. We caught it by testing which formula reproduced each site's published column.</a:t>
            </a:r>
            <a:endParaRPr lang="en-US" sz="1250" dirty="0"/>
          </a:p>
        </p:txBody>
      </p:sp>
      <p:sp>
        <p:nvSpPr>
          <p:cNvPr id="9" name="Shape 7"/>
          <p:cNvSpPr/>
          <p:nvPr/>
        </p:nvSpPr>
        <p:spPr>
          <a:xfrm>
            <a:off x="4320540" y="1508760"/>
            <a:ext cx="3520440" cy="2103120"/>
          </a:xfrm>
          <a:prstGeom prst="roundRect">
            <a:avLst>
              <a:gd name="adj" fmla="val 3478"/>
            </a:avLst>
          </a:prstGeom>
          <a:solidFill>
            <a:srgbClr val="EEF3F3"/>
          </a:solidFill>
          <a:ln w="9525">
            <a:solidFill>
              <a:srgbClr val="D5E0E1"/>
            </a:solidFill>
            <a:prstDash val="solid"/>
          </a:ln>
        </p:spPr>
      </p:sp>
      <p:sp>
        <p:nvSpPr>
          <p:cNvPr id="10" name="Shape 8"/>
          <p:cNvSpPr/>
          <p:nvPr/>
        </p:nvSpPr>
        <p:spPr>
          <a:xfrm>
            <a:off x="4549140" y="1737360"/>
            <a:ext cx="384048" cy="384048"/>
          </a:xfrm>
          <a:prstGeom prst="ellipse">
            <a:avLst/>
          </a:prstGeom>
          <a:solidFill>
            <a:srgbClr val="1F7A7A"/>
          </a:solidFill>
          <a:ln w="12700">
            <a:solidFill>
              <a:srgbClr val="1F7A7A"/>
            </a:solidFill>
            <a:prstDash val="solid"/>
          </a:ln>
        </p:spPr>
      </p:sp>
      <p:sp>
        <p:nvSpPr>
          <p:cNvPr id="11" name="Text 9"/>
          <p:cNvSpPr txBox="1"/>
          <p:nvPr/>
        </p:nvSpPr>
        <p:spPr>
          <a:xfrm>
            <a:off x="4549140" y="17373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5097780" y="1737360"/>
            <a:ext cx="2560320" cy="384048"/>
          </a:xfrm>
          <a:prstGeom prst="rect">
            <a:avLst/>
          </a:prstGeom>
          <a:noFill/>
          <a:ln/>
        </p:spPr>
        <p:txBody>
          <a:bodyPr wrap="square" lIns="0" tIns="0" rIns="0" bIns="0" rtlCol="0" anchor="ctr"/>
          <a:lstStyle/>
          <a:p>
            <a:pPr indent="0" marL="0">
              <a:buNone/>
            </a:pPr>
            <a:r>
              <a:rPr lang="en-US" sz="1500" b="1" dirty="0">
                <a:solidFill>
                  <a:srgbClr val="0F2A35"/>
                </a:solidFill>
                <a:latin typeface="Calibri" pitchFamily="34" charset="0"/>
                <a:ea typeface="Calibri" pitchFamily="34" charset="-122"/>
                <a:cs typeface="Calibri" pitchFamily="34" charset="-120"/>
              </a:rPr>
              <a:t>Looked past the null count</a:t>
            </a:r>
            <a:endParaRPr lang="en-US" sz="1500" dirty="0"/>
          </a:p>
        </p:txBody>
      </p:sp>
      <p:sp>
        <p:nvSpPr>
          <p:cNvPr id="13" name="Text 11"/>
          <p:cNvSpPr txBox="1"/>
          <p:nvPr/>
        </p:nvSpPr>
        <p:spPr>
          <a:xfrm>
            <a:off x="4549140" y="2286000"/>
            <a:ext cx="3063240" cy="1234440"/>
          </a:xfrm>
          <a:prstGeom prst="rect">
            <a:avLst/>
          </a:prstGeom>
          <a:noFill/>
          <a:ln/>
        </p:spPr>
        <p:txBody>
          <a:bodyPr wrap="square" lIns="0" tIns="0" rIns="0" bIns="0" rtlCol="0" anchor="t"/>
          <a:lstStyle/>
          <a:p>
            <a:pPr indent="0" marL="0">
              <a:buNone/>
            </a:pPr>
            <a:r>
              <a:rPr lang="en-US" sz="1250" dirty="0">
                <a:solidFill>
                  <a:srgbClr val="5B6B73"/>
                </a:solidFill>
                <a:latin typeface="Calibri" pitchFamily="34" charset="0"/>
                <a:ea typeface="Calibri" pitchFamily="34" charset="-122"/>
                <a:cs typeface="Calibri" pitchFamily="34" charset="-120"/>
              </a:rPr>
              <a:t>The real missing data was 196,967 zeros that meant “undefined”, found by an automatic rule search, not by counting blanks.</a:t>
            </a:r>
            <a:endParaRPr lang="en-US" sz="1250" dirty="0"/>
          </a:p>
        </p:txBody>
      </p:sp>
      <p:sp>
        <p:nvSpPr>
          <p:cNvPr id="14" name="Shape 12"/>
          <p:cNvSpPr/>
          <p:nvPr/>
        </p:nvSpPr>
        <p:spPr>
          <a:xfrm>
            <a:off x="8092440" y="1508760"/>
            <a:ext cx="3520440" cy="2103120"/>
          </a:xfrm>
          <a:prstGeom prst="roundRect">
            <a:avLst>
              <a:gd name="adj" fmla="val 3478"/>
            </a:avLst>
          </a:prstGeom>
          <a:solidFill>
            <a:srgbClr val="EEF3F3"/>
          </a:solidFill>
          <a:ln w="9525">
            <a:solidFill>
              <a:srgbClr val="D5E0E1"/>
            </a:solidFill>
            <a:prstDash val="solid"/>
          </a:ln>
        </p:spPr>
      </p:sp>
      <p:sp>
        <p:nvSpPr>
          <p:cNvPr id="15" name="Shape 13"/>
          <p:cNvSpPr/>
          <p:nvPr/>
        </p:nvSpPr>
        <p:spPr>
          <a:xfrm>
            <a:off x="8321040" y="1737360"/>
            <a:ext cx="384048" cy="384048"/>
          </a:xfrm>
          <a:prstGeom prst="ellipse">
            <a:avLst/>
          </a:prstGeom>
          <a:solidFill>
            <a:srgbClr val="1F7A7A"/>
          </a:solidFill>
          <a:ln w="12700">
            <a:solidFill>
              <a:srgbClr val="1F7A7A"/>
            </a:solidFill>
            <a:prstDash val="solid"/>
          </a:ln>
        </p:spPr>
      </p:sp>
      <p:sp>
        <p:nvSpPr>
          <p:cNvPr id="16" name="Text 14"/>
          <p:cNvSpPr txBox="1"/>
          <p:nvPr/>
        </p:nvSpPr>
        <p:spPr>
          <a:xfrm>
            <a:off x="8321040" y="17373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8869680" y="1737360"/>
            <a:ext cx="2560320" cy="384048"/>
          </a:xfrm>
          <a:prstGeom prst="rect">
            <a:avLst/>
          </a:prstGeom>
          <a:noFill/>
          <a:ln/>
        </p:spPr>
        <p:txBody>
          <a:bodyPr wrap="square" lIns="0" tIns="0" rIns="0" bIns="0" rtlCol="0" anchor="ctr"/>
          <a:lstStyle/>
          <a:p>
            <a:pPr indent="0" marL="0">
              <a:buNone/>
            </a:pPr>
            <a:r>
              <a:rPr lang="en-US" sz="1500" b="1" dirty="0">
                <a:solidFill>
                  <a:srgbClr val="0F2A35"/>
                </a:solidFill>
                <a:latin typeface="Calibri" pitchFamily="34" charset="0"/>
                <a:ea typeface="Calibri" pitchFamily="34" charset="-122"/>
                <a:cs typeface="Calibri" pitchFamily="34" charset="-120"/>
              </a:rPr>
              <a:t>Every claim has a test</a:t>
            </a:r>
            <a:endParaRPr lang="en-US" sz="1500" dirty="0"/>
          </a:p>
        </p:txBody>
      </p:sp>
      <p:sp>
        <p:nvSpPr>
          <p:cNvPr id="18" name="Text 16"/>
          <p:cNvSpPr txBox="1"/>
          <p:nvPr/>
        </p:nvSpPr>
        <p:spPr>
          <a:xfrm>
            <a:off x="8321040" y="2286000"/>
            <a:ext cx="3063240" cy="1234440"/>
          </a:xfrm>
          <a:prstGeom prst="rect">
            <a:avLst/>
          </a:prstGeom>
          <a:noFill/>
          <a:ln/>
        </p:spPr>
        <p:txBody>
          <a:bodyPr wrap="square" lIns="0" tIns="0" rIns="0" bIns="0" rtlCol="0" anchor="t"/>
          <a:lstStyle/>
          <a:p>
            <a:pPr indent="0" marL="0">
              <a:buNone/>
            </a:pPr>
            <a:r>
              <a:rPr lang="en-US" sz="1250" dirty="0">
                <a:solidFill>
                  <a:srgbClr val="5B6B73"/>
                </a:solidFill>
                <a:latin typeface="Calibri" pitchFamily="34" charset="0"/>
                <a:ea typeface="Calibri" pitchFamily="34" charset="-122"/>
                <a:cs typeface="Calibri" pitchFamily="34" charset="-120"/>
              </a:rPr>
              <a:t>Pruned columns are checked on a time-based hold-out; imputers on values we hid; image methods against exact ground truth.</a:t>
            </a:r>
            <a:endParaRPr lang="en-US" sz="1250" dirty="0"/>
          </a:p>
        </p:txBody>
      </p:sp>
      <p:sp>
        <p:nvSpPr>
          <p:cNvPr id="19" name="Shape 17"/>
          <p:cNvSpPr/>
          <p:nvPr/>
        </p:nvSpPr>
        <p:spPr>
          <a:xfrm>
            <a:off x="548640" y="3886200"/>
            <a:ext cx="3520440" cy="2103120"/>
          </a:xfrm>
          <a:prstGeom prst="roundRect">
            <a:avLst>
              <a:gd name="adj" fmla="val 3478"/>
            </a:avLst>
          </a:prstGeom>
          <a:solidFill>
            <a:srgbClr val="EEF3F3"/>
          </a:solidFill>
          <a:ln w="9525">
            <a:solidFill>
              <a:srgbClr val="D5E0E1"/>
            </a:solidFill>
            <a:prstDash val="solid"/>
          </a:ln>
        </p:spPr>
      </p:sp>
      <p:sp>
        <p:nvSpPr>
          <p:cNvPr id="20" name="Shape 18"/>
          <p:cNvSpPr/>
          <p:nvPr/>
        </p:nvSpPr>
        <p:spPr>
          <a:xfrm>
            <a:off x="777240" y="4114800"/>
            <a:ext cx="384048" cy="384048"/>
          </a:xfrm>
          <a:prstGeom prst="ellipse">
            <a:avLst/>
          </a:prstGeom>
          <a:solidFill>
            <a:srgbClr val="1F7A7A"/>
          </a:solidFill>
          <a:ln w="12700">
            <a:solidFill>
              <a:srgbClr val="1F7A7A"/>
            </a:solidFill>
            <a:prstDash val="solid"/>
          </a:ln>
        </p:spPr>
      </p:sp>
      <p:sp>
        <p:nvSpPr>
          <p:cNvPr id="21" name="Text 19"/>
          <p:cNvSpPr txBox="1"/>
          <p:nvPr/>
        </p:nvSpPr>
        <p:spPr>
          <a:xfrm>
            <a:off x="777240" y="41148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txBox="1"/>
          <p:nvPr/>
        </p:nvSpPr>
        <p:spPr>
          <a:xfrm>
            <a:off x="1325880" y="4114800"/>
            <a:ext cx="2560320" cy="384048"/>
          </a:xfrm>
          <a:prstGeom prst="rect">
            <a:avLst/>
          </a:prstGeom>
          <a:noFill/>
          <a:ln/>
        </p:spPr>
        <p:txBody>
          <a:bodyPr wrap="square" lIns="0" tIns="0" rIns="0" bIns="0" rtlCol="0" anchor="ctr"/>
          <a:lstStyle/>
          <a:p>
            <a:pPr indent="0" marL="0">
              <a:buNone/>
            </a:pPr>
            <a:r>
              <a:rPr lang="en-US" sz="1500" b="1" dirty="0">
                <a:solidFill>
                  <a:srgbClr val="0F2A35"/>
                </a:solidFill>
                <a:latin typeface="Calibri" pitchFamily="34" charset="0"/>
                <a:ea typeface="Calibri" pitchFamily="34" charset="-122"/>
                <a:cs typeface="Calibri" pitchFamily="34" charset="-120"/>
              </a:rPr>
              <a:t>Honest baselines</a:t>
            </a:r>
            <a:endParaRPr lang="en-US" sz="1500" dirty="0"/>
          </a:p>
        </p:txBody>
      </p:sp>
      <p:sp>
        <p:nvSpPr>
          <p:cNvPr id="23" name="Text 21"/>
          <p:cNvSpPr txBox="1"/>
          <p:nvPr/>
        </p:nvSpPr>
        <p:spPr>
          <a:xfrm>
            <a:off x="777240" y="4663440"/>
            <a:ext cx="3063240" cy="1234440"/>
          </a:xfrm>
          <a:prstGeom prst="rect">
            <a:avLst/>
          </a:prstGeom>
          <a:noFill/>
          <a:ln/>
        </p:spPr>
        <p:txBody>
          <a:bodyPr wrap="square" lIns="0" tIns="0" rIns="0" bIns="0" rtlCol="0" anchor="t"/>
          <a:lstStyle/>
          <a:p>
            <a:pPr indent="0" marL="0">
              <a:buNone/>
            </a:pPr>
            <a:r>
              <a:rPr lang="en-US" sz="1250" dirty="0">
                <a:solidFill>
                  <a:srgbClr val="5B6B73"/>
                </a:solidFill>
                <a:latin typeface="Calibri" pitchFamily="34" charset="0"/>
                <a:ea typeface="Calibri" pitchFamily="34" charset="-122"/>
                <a:cs typeface="Calibri" pitchFamily="34" charset="-120"/>
              </a:rPr>
              <a:t>The CNN is compared with logistic regression, and we report the seed that failed before we fixed it.</a:t>
            </a:r>
            <a:endParaRPr lang="en-US" sz="1250" dirty="0"/>
          </a:p>
        </p:txBody>
      </p:sp>
      <p:sp>
        <p:nvSpPr>
          <p:cNvPr id="24" name="Shape 22"/>
          <p:cNvSpPr/>
          <p:nvPr/>
        </p:nvSpPr>
        <p:spPr>
          <a:xfrm>
            <a:off x="4320540" y="3886200"/>
            <a:ext cx="3520440" cy="2103120"/>
          </a:xfrm>
          <a:prstGeom prst="roundRect">
            <a:avLst>
              <a:gd name="adj" fmla="val 3478"/>
            </a:avLst>
          </a:prstGeom>
          <a:solidFill>
            <a:srgbClr val="EEF3F3"/>
          </a:solidFill>
          <a:ln w="9525">
            <a:solidFill>
              <a:srgbClr val="D5E0E1"/>
            </a:solidFill>
            <a:prstDash val="solid"/>
          </a:ln>
        </p:spPr>
      </p:sp>
      <p:sp>
        <p:nvSpPr>
          <p:cNvPr id="25" name="Shape 23"/>
          <p:cNvSpPr/>
          <p:nvPr/>
        </p:nvSpPr>
        <p:spPr>
          <a:xfrm>
            <a:off x="4549140" y="4114800"/>
            <a:ext cx="384048" cy="384048"/>
          </a:xfrm>
          <a:prstGeom prst="ellipse">
            <a:avLst/>
          </a:prstGeom>
          <a:solidFill>
            <a:srgbClr val="1F7A7A"/>
          </a:solidFill>
          <a:ln w="12700">
            <a:solidFill>
              <a:srgbClr val="1F7A7A"/>
            </a:solidFill>
            <a:prstDash val="solid"/>
          </a:ln>
        </p:spPr>
      </p:sp>
      <p:sp>
        <p:nvSpPr>
          <p:cNvPr id="26" name="Text 24"/>
          <p:cNvSpPr txBox="1"/>
          <p:nvPr/>
        </p:nvSpPr>
        <p:spPr>
          <a:xfrm>
            <a:off x="4549140" y="41148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7" name="Text 25"/>
          <p:cNvSpPr txBox="1"/>
          <p:nvPr/>
        </p:nvSpPr>
        <p:spPr>
          <a:xfrm>
            <a:off x="5097780" y="4114800"/>
            <a:ext cx="2560320" cy="384048"/>
          </a:xfrm>
          <a:prstGeom prst="rect">
            <a:avLst/>
          </a:prstGeom>
          <a:noFill/>
          <a:ln/>
        </p:spPr>
        <p:txBody>
          <a:bodyPr wrap="square" lIns="0" tIns="0" rIns="0" bIns="0" rtlCol="0" anchor="ctr"/>
          <a:lstStyle/>
          <a:p>
            <a:pPr indent="0" marL="0">
              <a:buNone/>
            </a:pPr>
            <a:r>
              <a:rPr lang="en-US" sz="1500" b="1" dirty="0">
                <a:solidFill>
                  <a:srgbClr val="0F2A35"/>
                </a:solidFill>
                <a:latin typeface="Calibri" pitchFamily="34" charset="0"/>
                <a:ea typeface="Calibri" pitchFamily="34" charset="-122"/>
                <a:cs typeface="Calibri" pitchFamily="34" charset="-120"/>
              </a:rPr>
              <a:t>Measured, not asserted</a:t>
            </a:r>
            <a:endParaRPr lang="en-US" sz="1500" dirty="0"/>
          </a:p>
        </p:txBody>
      </p:sp>
      <p:sp>
        <p:nvSpPr>
          <p:cNvPr id="28" name="Text 26"/>
          <p:cNvSpPr txBox="1"/>
          <p:nvPr/>
        </p:nvSpPr>
        <p:spPr>
          <a:xfrm>
            <a:off x="4549140" y="4663440"/>
            <a:ext cx="3063240" cy="1234440"/>
          </a:xfrm>
          <a:prstGeom prst="rect">
            <a:avLst/>
          </a:prstGeom>
          <a:noFill/>
          <a:ln/>
        </p:spPr>
        <p:txBody>
          <a:bodyPr wrap="square" lIns="0" tIns="0" rIns="0" bIns="0" rtlCol="0" anchor="t"/>
          <a:lstStyle/>
          <a:p>
            <a:pPr indent="0" marL="0">
              <a:buNone/>
            </a:pPr>
            <a:r>
              <a:rPr lang="en-US" sz="1250" dirty="0">
                <a:solidFill>
                  <a:srgbClr val="5B6B73"/>
                </a:solidFill>
                <a:latin typeface="Calibri" pitchFamily="34" charset="0"/>
                <a:ea typeface="Calibri" pitchFamily="34" charset="-122"/>
                <a:cs typeface="Calibri" pitchFamily="34" charset="-120"/>
              </a:rPr>
              <a:t>Colormaps are ranked by CIELAB lightness; compression by PSNR, SSIM and nodule contrast kept.</a:t>
            </a:r>
            <a:endParaRPr lang="en-US" sz="1250" dirty="0"/>
          </a:p>
        </p:txBody>
      </p:sp>
      <p:sp>
        <p:nvSpPr>
          <p:cNvPr id="29" name="Shape 27"/>
          <p:cNvSpPr/>
          <p:nvPr/>
        </p:nvSpPr>
        <p:spPr>
          <a:xfrm>
            <a:off x="8092440" y="3886200"/>
            <a:ext cx="3520440" cy="2103120"/>
          </a:xfrm>
          <a:prstGeom prst="roundRect">
            <a:avLst>
              <a:gd name="adj" fmla="val 3478"/>
            </a:avLst>
          </a:prstGeom>
          <a:solidFill>
            <a:srgbClr val="EEF3F3"/>
          </a:solidFill>
          <a:ln w="9525">
            <a:solidFill>
              <a:srgbClr val="D5E0E1"/>
            </a:solidFill>
            <a:prstDash val="solid"/>
          </a:ln>
        </p:spPr>
      </p:sp>
      <p:sp>
        <p:nvSpPr>
          <p:cNvPr id="30" name="Shape 28"/>
          <p:cNvSpPr/>
          <p:nvPr/>
        </p:nvSpPr>
        <p:spPr>
          <a:xfrm>
            <a:off x="8321040" y="4114800"/>
            <a:ext cx="384048" cy="384048"/>
          </a:xfrm>
          <a:prstGeom prst="ellipse">
            <a:avLst/>
          </a:prstGeom>
          <a:solidFill>
            <a:srgbClr val="1F7A7A"/>
          </a:solidFill>
          <a:ln w="12700">
            <a:solidFill>
              <a:srgbClr val="1F7A7A"/>
            </a:solidFill>
            <a:prstDash val="solid"/>
          </a:ln>
        </p:spPr>
      </p:sp>
      <p:sp>
        <p:nvSpPr>
          <p:cNvPr id="31" name="Text 29"/>
          <p:cNvSpPr txBox="1"/>
          <p:nvPr/>
        </p:nvSpPr>
        <p:spPr>
          <a:xfrm>
            <a:off x="8321040" y="41148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2" name="Text 30"/>
          <p:cNvSpPr txBox="1"/>
          <p:nvPr/>
        </p:nvSpPr>
        <p:spPr>
          <a:xfrm>
            <a:off x="8869680" y="4114800"/>
            <a:ext cx="2560320" cy="384048"/>
          </a:xfrm>
          <a:prstGeom prst="rect">
            <a:avLst/>
          </a:prstGeom>
          <a:noFill/>
          <a:ln/>
        </p:spPr>
        <p:txBody>
          <a:bodyPr wrap="square" lIns="0" tIns="0" rIns="0" bIns="0" rtlCol="0" anchor="ctr"/>
          <a:lstStyle/>
          <a:p>
            <a:pPr indent="0" marL="0">
              <a:buNone/>
            </a:pPr>
            <a:r>
              <a:rPr lang="en-US" sz="1500" b="1" dirty="0">
                <a:solidFill>
                  <a:srgbClr val="0F2A35"/>
                </a:solidFill>
                <a:latin typeface="Calibri" pitchFamily="34" charset="0"/>
                <a:ea typeface="Calibri" pitchFamily="34" charset="-122"/>
                <a:cs typeface="Calibri" pitchFamily="34" charset="-120"/>
              </a:rPr>
              <a:t>Easy to rerun and extend</a:t>
            </a:r>
            <a:endParaRPr lang="en-US" sz="1500" dirty="0"/>
          </a:p>
        </p:txBody>
      </p:sp>
      <p:sp>
        <p:nvSpPr>
          <p:cNvPr id="33" name="Text 31"/>
          <p:cNvSpPr txBox="1"/>
          <p:nvPr/>
        </p:nvSpPr>
        <p:spPr>
          <a:xfrm>
            <a:off x="8321040" y="4663440"/>
            <a:ext cx="3063240" cy="1234440"/>
          </a:xfrm>
          <a:prstGeom prst="rect">
            <a:avLst/>
          </a:prstGeom>
          <a:noFill/>
          <a:ln/>
        </p:spPr>
        <p:txBody>
          <a:bodyPr wrap="square" lIns="0" tIns="0" rIns="0" bIns="0" rtlCol="0" anchor="t"/>
          <a:lstStyle/>
          <a:p>
            <a:pPr indent="0" marL="0">
              <a:buNone/>
            </a:pPr>
            <a:r>
              <a:rPr lang="en-US" sz="1250" dirty="0">
                <a:solidFill>
                  <a:srgbClr val="5B6B73"/>
                </a:solidFill>
                <a:latin typeface="Calibri" pitchFamily="34" charset="0"/>
                <a:ea typeface="Calibri" pitchFamily="34" charset="-122"/>
                <a:cs typeface="Calibri" pitchFamily="34" charset="-120"/>
              </a:rPr>
              <a:t>One command rebuilds everything. A new topic is one Python file and one JS file. The app opens offline.</a:t>
            </a:r>
            <a:endParaRPr lang="en-US" sz="1250" dirty="0"/>
          </a:p>
        </p:txBody>
      </p:sp>
      <p:sp>
        <p:nvSpPr>
          <p:cNvPr id="34" name="Text 32"/>
          <p:cNvSpPr txBox="1"/>
          <p:nvPr/>
        </p:nvSpPr>
        <p:spPr>
          <a:xfrm>
            <a:off x="548640" y="6473952"/>
            <a:ext cx="5486400" cy="228600"/>
          </a:xfrm>
          <a:prstGeom prst="rect">
            <a:avLst/>
          </a:prstGeom>
          <a:noFill/>
          <a:ln/>
        </p:spPr>
        <p:txBody>
          <a:bodyPr wrap="square" lIns="0" tIns="0" rIns="0" bIns="0" rtlCol="0" anchor="ctr"/>
          <a:lstStyle/>
          <a:p>
            <a:pPr indent="0" marL="0">
              <a:buNone/>
            </a:pPr>
            <a:r>
              <a:rPr lang="en-US" sz="950" dirty="0">
                <a:solidFill>
                  <a:srgbClr val="5B6B73"/>
                </a:solidFill>
                <a:latin typeface="Calibri" pitchFamily="34" charset="0"/>
                <a:ea typeface="Calibri" pitchFamily="34" charset="-122"/>
                <a:cs typeface="Calibri" pitchFamily="34" charset="-120"/>
              </a:rPr>
              <a:t>Operational &amp; Hospital Workflow Analytics</a:t>
            </a:r>
            <a:endParaRPr lang="en-US" sz="950" dirty="0"/>
          </a:p>
        </p:txBody>
      </p:sp>
      <p:sp>
        <p:nvSpPr>
          <p:cNvPr id="35" name="Text 33"/>
          <p:cNvSpPr txBox="1"/>
          <p:nvPr/>
        </p:nvSpPr>
        <p:spPr>
          <a:xfrm>
            <a:off x="11183112" y="6473952"/>
            <a:ext cx="457200" cy="228600"/>
          </a:xfrm>
          <a:prstGeom prst="rect">
            <a:avLst/>
          </a:prstGeom>
          <a:noFill/>
          <a:ln/>
        </p:spPr>
        <p:txBody>
          <a:bodyPr wrap="square" lIns="0" tIns="0" rIns="0" bIns="0" rtlCol="0" anchor="ctr"/>
          <a:lstStyle/>
          <a:p>
            <a:pPr algn="r" indent="0" marL="0">
              <a:buNone/>
            </a:pPr>
            <a:r>
              <a:rPr lang="en-US" sz="950" dirty="0">
                <a:solidFill>
                  <a:srgbClr val="5B6B73"/>
                </a:solidFill>
                <a:latin typeface="Calibri" pitchFamily="34" charset="0"/>
                <a:ea typeface="Calibri" pitchFamily="34" charset="-122"/>
                <a:cs typeface="Calibri" pitchFamily="34" charset="-120"/>
              </a:rPr>
              <a:t>9</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2A35"/>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7FC8C4"/>
                </a:solidFill>
                <a:latin typeface="Calibri" pitchFamily="34" charset="0"/>
                <a:ea typeface="Calibri" pitchFamily="34" charset="-122"/>
                <a:cs typeface="Calibri" pitchFamily="34" charset="-120"/>
              </a:rPr>
              <a:t>RESULTS &amp; DISCUSSION</a:t>
            </a:r>
            <a:endParaRPr lang="en-US" sz="1100" dirty="0"/>
          </a:p>
        </p:txBody>
      </p:sp>
      <p:sp>
        <p:nvSpPr>
          <p:cNvPr id="3" name="Text 1"/>
          <p:cNvSpPr txBox="1"/>
          <p:nvPr/>
        </p:nvSpPr>
        <p:spPr>
          <a:xfrm>
            <a:off x="548640" y="621792"/>
            <a:ext cx="11064240" cy="68580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What worked, and what to be careful about</a:t>
            </a:r>
            <a:endParaRPr lang="en-US" sz="3000" dirty="0"/>
          </a:p>
        </p:txBody>
      </p:sp>
      <p:sp>
        <p:nvSpPr>
          <p:cNvPr id="4" name="Text 2"/>
          <p:cNvSpPr txBox="1"/>
          <p:nvPr/>
        </p:nvSpPr>
        <p:spPr>
          <a:xfrm>
            <a:off x="548640" y="1508760"/>
            <a:ext cx="3383280" cy="5486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0 rows, 22 columns</a:t>
            </a:r>
            <a:endParaRPr lang="en-US" sz="2600" dirty="0"/>
          </a:p>
        </p:txBody>
      </p:sp>
      <p:sp>
        <p:nvSpPr>
          <p:cNvPr id="5" name="Text 3"/>
          <p:cNvSpPr txBox="1"/>
          <p:nvPr/>
        </p:nvSpPr>
        <p:spPr>
          <a:xfrm>
            <a:off x="4023360" y="1508760"/>
            <a:ext cx="3017520" cy="548640"/>
          </a:xfrm>
          <a:prstGeom prst="rect">
            <a:avLst/>
          </a:prstGeom>
          <a:noFill/>
          <a:ln/>
        </p:spPr>
        <p:txBody>
          <a:bodyPr wrap="square" lIns="0" tIns="0" rIns="0" bIns="0" rtlCol="0" anchor="ctr"/>
          <a:lstStyle/>
          <a:p>
            <a:pPr indent="0" marL="0">
              <a:buNone/>
            </a:pPr>
            <a:r>
              <a:rPr lang="en-US" sz="1250" dirty="0">
                <a:solidFill>
                  <a:srgbClr val="C9D6DA"/>
                </a:solidFill>
                <a:latin typeface="Calibri" pitchFamily="34" charset="0"/>
                <a:ea typeface="Calibri" pitchFamily="34" charset="-122"/>
                <a:cs typeface="Calibri" pitchFamily="34" charset="-120"/>
              </a:rPr>
              <a:t>removed at F1 (87 → 65) with hold-out error within 0.3 min</a:t>
            </a:r>
            <a:endParaRPr lang="en-US" sz="1250" dirty="0"/>
          </a:p>
        </p:txBody>
      </p:sp>
      <p:sp>
        <p:nvSpPr>
          <p:cNvPr id="6" name="Text 4"/>
          <p:cNvSpPr txBox="1"/>
          <p:nvPr/>
        </p:nvSpPr>
        <p:spPr>
          <a:xfrm>
            <a:off x="548640" y="2624328"/>
            <a:ext cx="3383280" cy="5486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+7.5 dB</a:t>
            </a:r>
            <a:endParaRPr lang="en-US" sz="2600" dirty="0"/>
          </a:p>
        </p:txBody>
      </p:sp>
      <p:sp>
        <p:nvSpPr>
          <p:cNvPr id="7" name="Text 5"/>
          <p:cNvSpPr txBox="1"/>
          <p:nvPr/>
        </p:nvSpPr>
        <p:spPr>
          <a:xfrm>
            <a:off x="4023360" y="2624328"/>
            <a:ext cx="3017520" cy="548640"/>
          </a:xfrm>
          <a:prstGeom prst="rect">
            <a:avLst/>
          </a:prstGeom>
          <a:noFill/>
          <a:ln/>
        </p:spPr>
        <p:txBody>
          <a:bodyPr wrap="square" lIns="0" tIns="0" rIns="0" bIns="0" rtlCol="0" anchor="ctr"/>
          <a:lstStyle/>
          <a:p>
            <a:pPr indent="0" marL="0">
              <a:buNone/>
            </a:pPr>
            <a:r>
              <a:rPr lang="en-US" sz="1250" dirty="0">
                <a:solidFill>
                  <a:srgbClr val="C9D6DA"/>
                </a:solidFill>
                <a:latin typeface="Calibri" pitchFamily="34" charset="0"/>
                <a:ea typeface="Calibri" pitchFamily="34" charset="-122"/>
                <a:cs typeface="Calibri" pitchFamily="34" charset="-120"/>
              </a:rPr>
              <a:t>PSNR from the best denoiser (non-local means)</a:t>
            </a:r>
            <a:endParaRPr lang="en-US" sz="1250" dirty="0"/>
          </a:p>
        </p:txBody>
      </p:sp>
      <p:sp>
        <p:nvSpPr>
          <p:cNvPr id="8" name="Text 6"/>
          <p:cNvSpPr txBox="1"/>
          <p:nvPr/>
        </p:nvSpPr>
        <p:spPr>
          <a:xfrm>
            <a:off x="548640" y="3739896"/>
            <a:ext cx="3383280" cy="5486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1.1 mm</a:t>
            </a:r>
            <a:endParaRPr lang="en-US" sz="2600" dirty="0"/>
          </a:p>
        </p:txBody>
      </p:sp>
      <p:sp>
        <p:nvSpPr>
          <p:cNvPr id="9" name="Text 7"/>
          <p:cNvSpPr txBox="1"/>
          <p:nvPr/>
        </p:nvSpPr>
        <p:spPr>
          <a:xfrm>
            <a:off x="4023360" y="3739896"/>
            <a:ext cx="3017520" cy="548640"/>
          </a:xfrm>
          <a:prstGeom prst="rect">
            <a:avLst/>
          </a:prstGeom>
          <a:noFill/>
          <a:ln/>
        </p:spPr>
        <p:txBody>
          <a:bodyPr wrap="square" lIns="0" tIns="0" rIns="0" bIns="0" rtlCol="0" anchor="ctr"/>
          <a:lstStyle/>
          <a:p>
            <a:pPr indent="0" marL="0">
              <a:buNone/>
            </a:pPr>
            <a:r>
              <a:rPr lang="en-US" sz="1250" dirty="0">
                <a:solidFill>
                  <a:srgbClr val="C9D6DA"/>
                </a:solidFill>
                <a:latin typeface="Calibri" pitchFamily="34" charset="0"/>
                <a:ea typeface="Calibri" pitchFamily="34" charset="-122"/>
                <a:cs typeface="Calibri" pitchFamily="34" charset="-120"/>
              </a:rPr>
              <a:t>registration error at the nodules with SIFT + RANSAC</a:t>
            </a:r>
            <a:endParaRPr lang="en-US" sz="1250" dirty="0"/>
          </a:p>
        </p:txBody>
      </p:sp>
      <p:sp>
        <p:nvSpPr>
          <p:cNvPr id="10" name="Text 8"/>
          <p:cNvSpPr txBox="1"/>
          <p:nvPr/>
        </p:nvSpPr>
        <p:spPr>
          <a:xfrm>
            <a:off x="548640" y="4855464"/>
            <a:ext cx="3383280" cy="5486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AUC 0.999</a:t>
            </a:r>
            <a:endParaRPr lang="en-US" sz="2600" dirty="0"/>
          </a:p>
        </p:txBody>
      </p:sp>
      <p:sp>
        <p:nvSpPr>
          <p:cNvPr id="11" name="Text 9"/>
          <p:cNvSpPr txBox="1"/>
          <p:nvPr/>
        </p:nvSpPr>
        <p:spPr>
          <a:xfrm>
            <a:off x="4023360" y="4855464"/>
            <a:ext cx="3017520" cy="548640"/>
          </a:xfrm>
          <a:prstGeom prst="rect">
            <a:avLst/>
          </a:prstGeom>
          <a:noFill/>
          <a:ln/>
        </p:spPr>
        <p:txBody>
          <a:bodyPr wrap="square" lIns="0" tIns="0" rIns="0" bIns="0" rtlCol="0" anchor="ctr"/>
          <a:lstStyle/>
          <a:p>
            <a:pPr indent="0" marL="0">
              <a:buNone/>
            </a:pPr>
            <a:r>
              <a:rPr lang="en-US" sz="1250" dirty="0">
                <a:solidFill>
                  <a:srgbClr val="C9D6DA"/>
                </a:solidFill>
                <a:latin typeface="Calibri" pitchFamily="34" charset="0"/>
                <a:ea typeface="Calibri" pitchFamily="34" charset="-122"/>
                <a:cs typeface="Calibri" pitchFamily="34" charset="-120"/>
              </a:rPr>
              <a:t>CNN vs 0.952 for logistic regression (synthetic test set)</a:t>
            </a:r>
            <a:endParaRPr lang="en-US" sz="1250" dirty="0"/>
          </a:p>
        </p:txBody>
      </p:sp>
      <p:sp>
        <p:nvSpPr>
          <p:cNvPr id="12" name="Shape 10"/>
          <p:cNvSpPr/>
          <p:nvPr/>
        </p:nvSpPr>
        <p:spPr>
          <a:xfrm>
            <a:off x="7406640" y="1417320"/>
            <a:ext cx="4251960" cy="4754880"/>
          </a:xfrm>
          <a:prstGeom prst="roundRect">
            <a:avLst>
              <a:gd name="adj" fmla="val 1720"/>
            </a:avLst>
          </a:prstGeom>
          <a:solidFill>
            <a:srgbClr val="1B3B47"/>
          </a:solidFill>
          <a:ln w="9525">
            <a:solidFill>
              <a:srgbClr val="2C5261"/>
            </a:solidFill>
            <a:prstDash val="solid"/>
          </a:ln>
        </p:spPr>
      </p:sp>
      <p:sp>
        <p:nvSpPr>
          <p:cNvPr id="13" name="Text 11"/>
          <p:cNvSpPr txBox="1"/>
          <p:nvPr/>
        </p:nvSpPr>
        <p:spPr>
          <a:xfrm>
            <a:off x="7680960" y="1600200"/>
            <a:ext cx="3749040" cy="365760"/>
          </a:xfrm>
          <a:prstGeom prst="rect">
            <a:avLst/>
          </a:prstGeom>
          <a:noFill/>
          <a:ln/>
        </p:spPr>
        <p:txBody>
          <a:bodyPr wrap="square" lIns="0" tIns="0" rIns="0" bIns="0" rtlCol="0" anchor="ctr"/>
          <a:lstStyle/>
          <a:p>
            <a:pPr indent="0" marL="0">
              <a:buNone/>
            </a:pPr>
            <a:r>
              <a:rPr lang="en-US" sz="1600" b="1" dirty="0">
                <a:solidFill>
                  <a:srgbClr val="7FC8C4"/>
                </a:solidFill>
                <a:latin typeface="Cambria" pitchFamily="34" charset="0"/>
                <a:ea typeface="Cambria" pitchFamily="34" charset="-122"/>
                <a:cs typeface="Cambria" pitchFamily="34" charset="-120"/>
              </a:rPr>
              <a:t>Limits we would state up front</a:t>
            </a:r>
            <a:endParaRPr lang="en-US" sz="1600" dirty="0"/>
          </a:p>
        </p:txBody>
      </p:sp>
      <p:sp>
        <p:nvSpPr>
          <p:cNvPr id="14" name="Text 12"/>
          <p:cNvSpPr txBox="1"/>
          <p:nvPr/>
        </p:nvSpPr>
        <p:spPr>
          <a:xfrm>
            <a:off x="7680960" y="2057400"/>
            <a:ext cx="3749040" cy="4023360"/>
          </a:xfrm>
          <a:prstGeom prst="rect">
            <a:avLst/>
          </a:prstGeom>
          <a:noFill/>
          <a:ln/>
        </p:spPr>
        <p:txBody>
          <a:bodyPr wrap="square" lIns="0" tIns="0" rIns="0" bIns="0" rtlCol="0" anchor="t"/>
          <a:lstStyle/>
          <a:p>
            <a:pPr marL="177800" indent="-177800">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T4–T6 use a synthetic phantom: rankings carry over, absolute numbers do not.</a:t>
            </a:r>
            <a:endParaRPr lang="en-US" sz="1250" dirty="0"/>
          </a:p>
          <a:p>
            <a:pPr marL="177800" indent="-177800">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The CNN's train and test patients share one generator, so its score is in-distribution.</a:t>
            </a:r>
            <a:endParaRPr lang="en-US" sz="1250" dirty="0"/>
          </a:p>
          <a:p>
            <a:pPr marL="177800" indent="-177800">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Restoration parameters were tuned on the scored image.</a:t>
            </a:r>
            <a:endParaRPr lang="en-US" sz="1250" dirty="0"/>
          </a:p>
          <a:p>
            <a:pPr marL="177800" indent="-177800">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The “undefined zero” rules are inferred from data and need the system owner's confirmation.</a:t>
            </a:r>
            <a:endParaRPr lang="en-US" sz="1250" dirty="0"/>
          </a:p>
          <a:p>
            <a:pPr marL="177800" indent="-177800">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Nothing here is clinical advice or a diagnostic viewer.</a:t>
            </a:r>
            <a:endParaRPr lang="en-US" sz="1250" dirty="0"/>
          </a:p>
        </p:txBody>
      </p:sp>
      <p:sp>
        <p:nvSpPr>
          <p:cNvPr id="15" name="Text 13"/>
          <p:cNvSpPr txBox="1"/>
          <p:nvPr/>
        </p:nvSpPr>
        <p:spPr>
          <a:xfrm>
            <a:off x="548640" y="5943600"/>
            <a:ext cx="6583680" cy="457200"/>
          </a:xfrm>
          <a:prstGeom prst="rect">
            <a:avLst/>
          </a:prstGeom>
          <a:noFill/>
          <a:ln/>
        </p:spPr>
        <p:txBody>
          <a:bodyPr wrap="square" lIns="0" tIns="0" rIns="0" bIns="0" rtlCol="0" anchor="t"/>
          <a:lstStyle/>
          <a:p>
            <a:pPr indent="0" marL="0">
              <a:buNone/>
            </a:pPr>
            <a:r>
              <a:rPr lang="en-US" sz="1250" b="1" dirty="0">
                <a:solidFill>
                  <a:srgbClr val="7FC8C4"/>
                </a:solidFill>
                <a:latin typeface="Calibri" pitchFamily="34" charset="0"/>
                <a:ea typeface="Calibri" pitchFamily="34" charset="-122"/>
                <a:cs typeface="Calibri" pitchFamily="34" charset="-120"/>
              </a:rPr>
              <a:t>Next: </a:t>
            </a:r>
            <a:pPr indent="0" marL="0">
              <a:buNone/>
            </a:pPr>
            <a:r>
              <a:rPr lang="en-US" sz="1250" dirty="0">
                <a:solidFill>
                  <a:srgbClr val="C9D6DA"/>
                </a:solidFill>
                <a:latin typeface="Calibri" pitchFamily="34" charset="0"/>
                <a:ea typeface="Calibri" pitchFamily="34" charset="-122"/>
                <a:cs typeface="Calibri" pitchFamily="34" charset="-120"/>
              </a:rPr>
              <a:t>run T4–T5 on real DICOM studies, and turn the cleaned features into a wait-time predictor with a live-safe imputer.</a:t>
            </a:r>
            <a:endParaRPr lang="en-US" sz="1250" dirty="0"/>
          </a:p>
        </p:txBody>
      </p:sp>
      <p:sp>
        <p:nvSpPr>
          <p:cNvPr id="16" name="Text 14"/>
          <p:cNvSpPr txBox="1"/>
          <p:nvPr/>
        </p:nvSpPr>
        <p:spPr>
          <a:xfrm>
            <a:off x="548640" y="6473952"/>
            <a:ext cx="5486400" cy="228600"/>
          </a:xfrm>
          <a:prstGeom prst="rect">
            <a:avLst/>
          </a:prstGeom>
          <a:noFill/>
          <a:ln/>
        </p:spPr>
        <p:txBody>
          <a:bodyPr wrap="square" lIns="0" tIns="0" rIns="0" bIns="0" rtlCol="0" anchor="ctr"/>
          <a:lstStyle/>
          <a:p>
            <a:pPr indent="0" marL="0">
              <a:buNone/>
            </a:pPr>
            <a:r>
              <a:rPr lang="en-US" sz="950" dirty="0">
                <a:solidFill>
                  <a:srgbClr val="C9D6DA"/>
                </a:solidFill>
                <a:latin typeface="Calibri" pitchFamily="34" charset="0"/>
                <a:ea typeface="Calibri" pitchFamily="34" charset="-122"/>
                <a:cs typeface="Calibri" pitchFamily="34" charset="-120"/>
              </a:rPr>
              <a:t>Operational &amp; Hospital Workflow Analytics</a:t>
            </a:r>
            <a:endParaRPr lang="en-US" sz="950" dirty="0"/>
          </a:p>
        </p:txBody>
      </p:sp>
      <p:sp>
        <p:nvSpPr>
          <p:cNvPr id="17" name="Text 15"/>
          <p:cNvSpPr txBox="1"/>
          <p:nvPr/>
        </p:nvSpPr>
        <p:spPr>
          <a:xfrm>
            <a:off x="11183112" y="6473952"/>
            <a:ext cx="457200" cy="228600"/>
          </a:xfrm>
          <a:prstGeom prst="rect">
            <a:avLst/>
          </a:prstGeom>
          <a:noFill/>
          <a:ln/>
        </p:spPr>
        <p:txBody>
          <a:bodyPr wrap="square" lIns="0" tIns="0" rIns="0" bIns="0" rtlCol="0" anchor="ctr"/>
          <a:lstStyle/>
          <a:p>
            <a:pPr algn="r" indent="0" marL="0">
              <a:buNone/>
            </a:pPr>
            <a:r>
              <a:rPr lang="en-US" sz="950" dirty="0">
                <a:solidFill>
                  <a:srgbClr val="C9D6DA"/>
                </a:solidFill>
                <a:latin typeface="Calibri" pitchFamily="34" charset="0"/>
                <a:ea typeface="Calibri" pitchFamily="34" charset="-122"/>
                <a:cs typeface="Calibri" pitchFamily="34" charset="-120"/>
              </a:rPr>
              <a:t>10</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Operational &amp; Hospital Workflow Analytics</dc:title>
  <dc:subject>PptxGenJS Presentation</dc:subject>
  <dc:creator>Aryan Raj</dc:creator>
  <cp:lastModifiedBy>Aryan Raj</cp:lastModifiedBy>
  <cp:revision>1</cp:revision>
  <dcterms:created xsi:type="dcterms:W3CDTF">2026-09-21T20:38:57Z</dcterms:created>
  <dcterms:modified xsi:type="dcterms:W3CDTF">2026-09-21T20:38:57Z</dcterms:modified>
</cp:coreProperties>
</file>